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D3A"/>
                </a:solidFill>
                <a:latin typeface="Arial"/>
              </a:defRPr>
            </a:pPr>
            <a:r>
              <a:rPr sz="1400" b="0" i="0" u="none" strike="noStrike">
                <a:solidFill>
                  <a:srgbClr val="0B1D3A"/>
                </a:solidFill>
                <a:latin typeface="Arial"/>
              </a:rPr>
              <a:t>Test Accuracy by Model</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FF6B35"/>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SVM</c:v>
                  </c:pt>
                  <c:pt idx="2">
                    <c:v>Decision
Tree</c:v>
                  </c:pt>
                  <c:pt idx="3">
                    <c:v>KNN</c:v>
                  </c:pt>
                </c:lvl>
              </c:multiLvlStrCache>
            </c:multiLvlStrRef>
          </c:cat>
          <c:val>
            <c:numRef>
              <c:f>Sheet1!$B$2:$B$5</c:f>
              <c:numCache>
                <c:formatCode>General</c:formatCode>
                <c:ptCount val="4"/>
                <c:pt idx="0">
                  <c:v>0.833</c:v>
                </c:pt>
                <c:pt idx="1">
                  <c:v>0.833</c:v>
                </c:pt>
                <c:pt idx="2">
                  <c:v>0.944</c:v>
                </c:pt>
                <c:pt idx="3">
                  <c:v>0.833</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B1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2E5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1B1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4846320" y="-777240"/>
            <a:ext cx="8412480" cy="8412480"/>
          </a:xfrm>
          <a:prstGeom prst="ellipse">
            <a:avLst/>
          </a:prstGeom>
          <a:ln w="12700">
            <a:solidFill>
              <a:srgbClr val="415A77">
                <a:alpha val="45000"/>
              </a:srgbClr>
            </a:solidFill>
            <a:prstDash val="solid"/>
          </a:ln>
        </p:spPr>
      </p:sp>
      <p:sp>
        <p:nvSpPr>
          <p:cNvPr id="3" name="Shape 1"/>
          <p:cNvSpPr/>
          <p:nvPr/>
        </p:nvSpPr>
        <p:spPr>
          <a:xfrm>
            <a:off x="5943600" y="320040"/>
            <a:ext cx="6217920" cy="6217920"/>
          </a:xfrm>
          <a:prstGeom prst="ellipse">
            <a:avLst/>
          </a:prstGeom>
          <a:ln w="12700">
            <a:solidFill>
              <a:srgbClr val="415A77">
                <a:alpha val="45000"/>
              </a:srgbClr>
            </a:solidFill>
            <a:prstDash val="solid"/>
          </a:ln>
        </p:spPr>
      </p:sp>
      <p:sp>
        <p:nvSpPr>
          <p:cNvPr id="4" name="Shape 2"/>
          <p:cNvSpPr/>
          <p:nvPr/>
        </p:nvSpPr>
        <p:spPr>
          <a:xfrm>
            <a:off x="6949440" y="1325880"/>
            <a:ext cx="4206240" cy="4206240"/>
          </a:xfrm>
          <a:prstGeom prst="ellipse">
            <a:avLst/>
          </a:prstGeom>
          <a:ln w="12700">
            <a:solidFill>
              <a:srgbClr val="415A77">
                <a:alpha val="45000"/>
              </a:srgbClr>
            </a:solidFill>
            <a:prstDash val="solid"/>
          </a:ln>
        </p:spPr>
      </p:sp>
      <p:sp>
        <p:nvSpPr>
          <p:cNvPr id="5" name="Shape 3"/>
          <p:cNvSpPr/>
          <p:nvPr/>
        </p:nvSpPr>
        <p:spPr>
          <a:xfrm>
            <a:off x="8778240" y="3154680"/>
            <a:ext cx="548640" cy="548640"/>
          </a:xfrm>
          <a:prstGeom prst="ellipse">
            <a:avLst/>
          </a:prstGeom>
          <a:solidFill>
            <a:srgbClr val="FF6B35"/>
          </a:solidFill>
          <a:ln/>
        </p:spPr>
      </p:sp>
      <p:sp>
        <p:nvSpPr>
          <p:cNvPr id="6" name="Text 4"/>
          <p:cNvSpPr/>
          <p:nvPr/>
        </p:nvSpPr>
        <p:spPr>
          <a:xfrm>
            <a:off x="640080" y="2148840"/>
            <a:ext cx="7589520" cy="1737360"/>
          </a:xfrm>
          <a:prstGeom prst="rect">
            <a:avLst/>
          </a:prstGeom>
          <a:noFill/>
          <a:ln/>
        </p:spPr>
        <p:txBody>
          <a:bodyPr wrap="square" rtlCol="0" anchor="ctr"/>
          <a:lstStyle/>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WINNING THE SPACE RACE</a:t>
            </a:r>
            <a:endParaRPr lang="en-US" sz="4000" dirty="0"/>
          </a:p>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WITH DATA SCIENCE</a:t>
            </a:r>
            <a:endParaRPr lang="en-US" sz="4000" dirty="0"/>
          </a:p>
        </p:txBody>
      </p:sp>
      <p:sp>
        <p:nvSpPr>
          <p:cNvPr id="7" name="Text 5"/>
          <p:cNvSpPr/>
          <p:nvPr/>
        </p:nvSpPr>
        <p:spPr>
          <a:xfrm>
            <a:off x="640080" y="3794760"/>
            <a:ext cx="7589520" cy="457200"/>
          </a:xfrm>
          <a:prstGeom prst="rect">
            <a:avLst/>
          </a:prstGeom>
          <a:noFill/>
          <a:ln/>
        </p:spPr>
        <p:txBody>
          <a:bodyPr wrap="square" rtlCol="0" anchor="ctr"/>
          <a:lstStyle/>
          <a:p>
            <a:pPr algn="l" indent="0" marL="0">
              <a:buNone/>
            </a:pPr>
            <a:r>
              <a:rPr lang="en-US" sz="2000" dirty="0">
                <a:solidFill>
                  <a:srgbClr val="CADCFC"/>
                </a:solidFill>
                <a:latin typeface="Calibri" pitchFamily="34" charset="0"/>
                <a:ea typeface="Calibri" pitchFamily="34" charset="-122"/>
                <a:cs typeface="Calibri" pitchFamily="34" charset="-120"/>
              </a:rPr>
              <a:t>SpaceX Falcon 9 First Stage Landing Prediction</a:t>
            </a:r>
            <a:endParaRPr lang="en-US" sz="2000" dirty="0"/>
          </a:p>
        </p:txBody>
      </p:sp>
      <p:sp>
        <p:nvSpPr>
          <p:cNvPr id="8" name="Text 6"/>
          <p:cNvSpPr/>
          <p:nvPr/>
        </p:nvSpPr>
        <p:spPr>
          <a:xfrm>
            <a:off x="640080" y="6035040"/>
            <a:ext cx="5486400" cy="365760"/>
          </a:xfrm>
          <a:prstGeom prst="rect">
            <a:avLst/>
          </a:prstGeom>
          <a:noFill/>
          <a:ln/>
        </p:spPr>
        <p:txBody>
          <a:bodyPr wrap="square"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Data Science Capstone Project</a:t>
            </a:r>
            <a:endParaRPr lang="en-US" sz="1300" dirty="0"/>
          </a:p>
        </p:txBody>
      </p:sp>
      <p:sp>
        <p:nvSpPr>
          <p:cNvPr id="9" name="Text 7"/>
          <p:cNvSpPr/>
          <p:nvPr/>
        </p:nvSpPr>
        <p:spPr>
          <a:xfrm>
            <a:off x="640080" y="6355080"/>
            <a:ext cx="5486400" cy="320040"/>
          </a:xfrm>
          <a:prstGeom prst="rect">
            <a:avLst/>
          </a:prstGeom>
          <a:noFill/>
          <a:ln/>
        </p:spPr>
        <p:txBody>
          <a:bodyPr wrap="square"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Prepared by Yash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3200" b="1" dirty="0">
                <a:solidFill>
                  <a:srgbClr val="0B1D3A"/>
                </a:solidFill>
                <a:latin typeface="Cambria" pitchFamily="34" charset="0"/>
                <a:ea typeface="Cambria" pitchFamily="34" charset="-122"/>
                <a:cs typeface="Cambria" pitchFamily="34" charset="-120"/>
              </a:rPr>
              <a:t>Executive Summary</a:t>
            </a:r>
            <a:endParaRPr lang="en-US" sz="3200" dirty="0"/>
          </a:p>
        </p:txBody>
      </p:sp>
      <p:sp>
        <p:nvSpPr>
          <p:cNvPr id="3" name="Shape 1"/>
          <p:cNvSpPr/>
          <p:nvPr/>
        </p:nvSpPr>
        <p:spPr>
          <a:xfrm>
            <a:off x="54864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4" name="Text 2"/>
          <p:cNvSpPr/>
          <p:nvPr/>
        </p:nvSpPr>
        <p:spPr>
          <a:xfrm>
            <a:off x="54864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90</a:t>
            </a:r>
            <a:endParaRPr lang="en-US" sz="3400" dirty="0"/>
          </a:p>
        </p:txBody>
      </p:sp>
      <p:sp>
        <p:nvSpPr>
          <p:cNvPr id="5" name="Text 3"/>
          <p:cNvSpPr/>
          <p:nvPr/>
        </p:nvSpPr>
        <p:spPr>
          <a:xfrm>
            <a:off x="68580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Falcon 9 launches</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analyzed (2010-2020)</a:t>
            </a:r>
            <a:endParaRPr lang="en-US" sz="1250" dirty="0"/>
          </a:p>
        </p:txBody>
      </p:sp>
      <p:sp>
        <p:nvSpPr>
          <p:cNvPr id="6" name="Shape 4"/>
          <p:cNvSpPr/>
          <p:nvPr/>
        </p:nvSpPr>
        <p:spPr>
          <a:xfrm>
            <a:off x="338328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7" name="Text 5"/>
          <p:cNvSpPr/>
          <p:nvPr/>
        </p:nvSpPr>
        <p:spPr>
          <a:xfrm>
            <a:off x="338328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66.7%</a:t>
            </a:r>
            <a:endParaRPr lang="en-US" sz="3400" dirty="0"/>
          </a:p>
        </p:txBody>
      </p:sp>
      <p:sp>
        <p:nvSpPr>
          <p:cNvPr id="8" name="Text 6"/>
          <p:cNvSpPr/>
          <p:nvPr/>
        </p:nvSpPr>
        <p:spPr>
          <a:xfrm>
            <a:off x="352044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Overall first-stage</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landing success rate</a:t>
            </a:r>
            <a:endParaRPr lang="en-US" sz="1250" dirty="0"/>
          </a:p>
        </p:txBody>
      </p:sp>
      <p:sp>
        <p:nvSpPr>
          <p:cNvPr id="9" name="Shape 7"/>
          <p:cNvSpPr/>
          <p:nvPr/>
        </p:nvSpPr>
        <p:spPr>
          <a:xfrm>
            <a:off x="621792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10" name="Text 8"/>
          <p:cNvSpPr/>
          <p:nvPr/>
        </p:nvSpPr>
        <p:spPr>
          <a:xfrm>
            <a:off x="621792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94.4%</a:t>
            </a:r>
            <a:endParaRPr lang="en-US" sz="3400" dirty="0"/>
          </a:p>
        </p:txBody>
      </p:sp>
      <p:sp>
        <p:nvSpPr>
          <p:cNvPr id="11" name="Text 9"/>
          <p:cNvSpPr/>
          <p:nvPr/>
        </p:nvSpPr>
        <p:spPr>
          <a:xfrm>
            <a:off x="635508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Best model's test</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accuracy (Decision Tree)</a:t>
            </a:r>
            <a:endParaRPr lang="en-US" sz="1250" dirty="0"/>
          </a:p>
        </p:txBody>
      </p:sp>
      <p:sp>
        <p:nvSpPr>
          <p:cNvPr id="12" name="Shape 10"/>
          <p:cNvSpPr/>
          <p:nvPr/>
        </p:nvSpPr>
        <p:spPr>
          <a:xfrm>
            <a:off x="9052560" y="1234440"/>
            <a:ext cx="2514600" cy="1737360"/>
          </a:xfrm>
          <a:prstGeom prst="roundRect">
            <a:avLst>
              <a:gd name="adj" fmla="val 4211"/>
            </a:avLst>
          </a:prstGeom>
          <a:solidFill>
            <a:srgbClr val="F4F6FA"/>
          </a:solidFill>
          <a:ln/>
          <a:effectLst>
            <a:outerShdw sx="100000" sy="100000" kx="0" ky="0" algn="bl" rotWithShape="0" blurRad="76200" dist="25400" dir="5400000">
              <a:srgbClr val="9AA5B1">
                <a:alpha val="25000"/>
              </a:srgbClr>
            </a:outerShdw>
          </a:effectLst>
        </p:spPr>
      </p:sp>
      <p:sp>
        <p:nvSpPr>
          <p:cNvPr id="13" name="Text 11"/>
          <p:cNvSpPr/>
          <p:nvPr/>
        </p:nvSpPr>
        <p:spPr>
          <a:xfrm>
            <a:off x="9052560" y="1371600"/>
            <a:ext cx="2514600" cy="731520"/>
          </a:xfrm>
          <a:prstGeom prst="rect">
            <a:avLst/>
          </a:prstGeom>
          <a:noFill/>
          <a:ln/>
        </p:spPr>
        <p:txBody>
          <a:bodyPr wrap="square" rtlCol="0" anchor="ctr"/>
          <a:lstStyle/>
          <a:p>
            <a:pPr algn="ctr" indent="0" marL="0">
              <a:buNone/>
            </a:pPr>
            <a:r>
              <a:rPr lang="en-US" sz="3400" b="1" dirty="0">
                <a:solidFill>
                  <a:srgbClr val="FF6B35"/>
                </a:solidFill>
                <a:latin typeface="Cambria" pitchFamily="34" charset="0"/>
                <a:ea typeface="Cambria" pitchFamily="34" charset="-122"/>
                <a:cs typeface="Cambria" pitchFamily="34" charset="-120"/>
              </a:rPr>
              <a:t>4</a:t>
            </a:r>
            <a:endParaRPr lang="en-US" sz="3400" dirty="0"/>
          </a:p>
        </p:txBody>
      </p:sp>
      <p:sp>
        <p:nvSpPr>
          <p:cNvPr id="14" name="Text 12"/>
          <p:cNvSpPr/>
          <p:nvPr/>
        </p:nvSpPr>
        <p:spPr>
          <a:xfrm>
            <a:off x="9189720" y="2148840"/>
            <a:ext cx="2240280" cy="731520"/>
          </a:xfrm>
          <a:prstGeom prst="rect">
            <a:avLst/>
          </a:prstGeom>
          <a:noFill/>
          <a:ln/>
        </p:spPr>
        <p:txBody>
          <a:bodyPr wrap="square" rtlCol="0" anchor="ctr"/>
          <a:lstStyle/>
          <a:p>
            <a:pPr algn="ctr" indent="0" marL="0">
              <a:buNone/>
            </a:pPr>
            <a:r>
              <a:rPr lang="en-US" sz="1250" dirty="0">
                <a:solidFill>
                  <a:srgbClr val="1B1B1F"/>
                </a:solidFill>
                <a:latin typeface="Calibri" pitchFamily="34" charset="0"/>
                <a:ea typeface="Calibri" pitchFamily="34" charset="-122"/>
                <a:cs typeface="Calibri" pitchFamily="34" charset="-120"/>
              </a:rPr>
              <a:t>Launch sites compared</a:t>
            </a:r>
            <a:endParaRPr lang="en-US" sz="1250" dirty="0"/>
          </a:p>
          <a:p>
            <a:pPr algn="ctr" indent="0" marL="0">
              <a:buNone/>
            </a:pPr>
            <a:r>
              <a:rPr lang="en-US" sz="1250" dirty="0">
                <a:solidFill>
                  <a:srgbClr val="1B1B1F"/>
                </a:solidFill>
                <a:latin typeface="Calibri" pitchFamily="34" charset="0"/>
                <a:ea typeface="Calibri" pitchFamily="34" charset="-122"/>
                <a:cs typeface="Calibri" pitchFamily="34" charset="-120"/>
              </a:rPr>
              <a:t>across the U.S.</a:t>
            </a:r>
            <a:endParaRPr lang="en-US" sz="1250" dirty="0"/>
          </a:p>
        </p:txBody>
      </p:sp>
      <p:sp>
        <p:nvSpPr>
          <p:cNvPr id="15" name="Text 13"/>
          <p:cNvSpPr/>
          <p:nvPr/>
        </p:nvSpPr>
        <p:spPr>
          <a:xfrm>
            <a:off x="548640" y="3429000"/>
            <a:ext cx="11064240" cy="1828800"/>
          </a:xfrm>
          <a:prstGeom prst="rect">
            <a:avLst/>
          </a:prstGeom>
          <a:noFill/>
          <a:ln/>
        </p:spPr>
        <p:txBody>
          <a:bodyPr wrap="square" rtlCol="0" anchor="ctr"/>
          <a:lstStyle/>
          <a:p>
            <a:pPr algn="l" indent="0" marL="0">
              <a:lnSpc>
                <a:spcPct val="125000"/>
              </a:lnSpc>
              <a:buNone/>
            </a:pPr>
            <a:r>
              <a:rPr lang="en-US" sz="1500" dirty="0">
                <a:solidFill>
                  <a:srgbClr val="1B1B1F"/>
                </a:solidFill>
                <a:latin typeface="Calibri" pitchFamily="34" charset="0"/>
                <a:ea typeface="Calibri" pitchFamily="34" charset="-122"/>
                <a:cs typeface="Calibri" pitchFamily="34" charset="-120"/>
              </a:rPr>
              <a:t>SpaceX reuses the Falcon 9 first stage instead of discarding it after every flight, which is the single biggest reason their launch cost undercuts the rest of the industry. This project follows the full data science pipeline — collecting launch records via the SpaceX API and Wikipedia, wrangling and exploring the data, mapping and dashboarding it interactively, and finally training classification models — to predict whether a given first stage will land successfully. That prediction matters directly for a competing launch provider bidding against SpaceX: knowing the true probability of a successful, reusable landing changes what a competitive price actually looks like.</a:t>
            </a:r>
            <a:endParaRPr lang="en-US" sz="1500" dirty="0"/>
          </a:p>
        </p:txBody>
      </p:sp>
      <p:sp>
        <p:nvSpPr>
          <p:cNvPr id="16" name="Text 14"/>
          <p:cNvSpPr/>
          <p:nvPr/>
        </p:nvSpPr>
        <p:spPr>
          <a:xfrm>
            <a:off x="548640" y="5577840"/>
            <a:ext cx="11064240" cy="822960"/>
          </a:xfrm>
          <a:prstGeom prst="rect">
            <a:avLst/>
          </a:prstGeom>
          <a:noFill/>
          <a:ln/>
        </p:spPr>
        <p:txBody>
          <a:bodyPr wrap="square" rtlCol="0" anchor="ctr"/>
          <a:lstStyle/>
          <a:p>
            <a:pPr algn="l" indent="0" marL="0">
              <a:lnSpc>
                <a:spcPct val="120000"/>
              </a:lnSpc>
              <a:buNone/>
            </a:pPr>
            <a:r>
              <a:rPr lang="en-US" sz="1400" i="1" dirty="0">
                <a:solidFill>
                  <a:srgbClr val="415A77"/>
                </a:solidFill>
                <a:latin typeface="Calibri" pitchFamily="34" charset="0"/>
                <a:ea typeface="Calibri" pitchFamily="34" charset="-122"/>
                <a:cs typeface="Calibri" pitchFamily="34" charset="-120"/>
              </a:rPr>
              <a:t>Key finding: landing success climbed sharply as flight number increased and stabilized above 90% in recent years — reuse isn't just cheaper, it's now the reliable default.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3200" b="1" dirty="0">
                <a:solidFill>
                  <a:srgbClr val="0B1D3A"/>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548640" y="1188720"/>
            <a:ext cx="5212080" cy="365760"/>
          </a:xfrm>
          <a:prstGeom prst="rect">
            <a:avLst/>
          </a:prstGeom>
          <a:noFill/>
          <a:ln/>
        </p:spPr>
        <p:txBody>
          <a:bodyPr wrap="square" rtlCol="0" anchor="ctr"/>
          <a:lstStyle/>
          <a:p>
            <a:pPr indent="0" marL="0">
              <a:buNone/>
            </a:pPr>
            <a:r>
              <a:rPr lang="en-US" sz="1800" b="1" dirty="0">
                <a:solidFill>
                  <a:srgbClr val="415A77"/>
                </a:solidFill>
                <a:latin typeface="Calibri" pitchFamily="34" charset="0"/>
                <a:ea typeface="Calibri" pitchFamily="34" charset="-122"/>
                <a:cs typeface="Calibri" pitchFamily="34" charset="-120"/>
              </a:rPr>
              <a:t>The business problem</a:t>
            </a:r>
            <a:endParaRPr lang="en-US" sz="1800" dirty="0"/>
          </a:p>
        </p:txBody>
      </p:sp>
      <p:sp>
        <p:nvSpPr>
          <p:cNvPr id="4" name="Text 2"/>
          <p:cNvSpPr/>
          <p:nvPr/>
        </p:nvSpPr>
        <p:spPr>
          <a:xfrm>
            <a:off x="548640" y="1600200"/>
            <a:ext cx="5212080" cy="2377440"/>
          </a:xfrm>
          <a:prstGeom prst="rect">
            <a:avLst/>
          </a:prstGeom>
          <a:noFill/>
          <a:ln/>
        </p:spPr>
        <p:txBody>
          <a:bodyPr wrap="square" rtlCol="0" anchor="ctr"/>
          <a:lstStyle/>
          <a:p>
            <a:pPr indent="0" marL="0">
              <a:lnSpc>
                <a:spcPct val="125000"/>
              </a:lnSpc>
              <a:buNone/>
            </a:pPr>
            <a:r>
              <a:rPr lang="en-US" sz="1350" dirty="0">
                <a:solidFill>
                  <a:srgbClr val="1B1B1F"/>
                </a:solidFill>
                <a:latin typeface="Calibri" pitchFamily="34" charset="0"/>
                <a:ea typeface="Calibri" pitchFamily="34" charset="-122"/>
                <a:cs typeface="Calibri" pitchFamily="34" charset="-120"/>
              </a:rPr>
              <a:t>SpaceX advertises Falcon 9 launches at roughly $62 million, well under competitors' prices largely because it re-flies the first stage rather than building a new one every time. If a competing company wants to bid against SpaceX, it needs a reliable estimate of whether a given launch's first stage will actually land — and be reusable — since that single factor drives most of the cost difference.</a:t>
            </a:r>
            <a:endParaRPr lang="en-US" sz="1350" dirty="0"/>
          </a:p>
        </p:txBody>
      </p:sp>
      <p:sp>
        <p:nvSpPr>
          <p:cNvPr id="5" name="Text 3"/>
          <p:cNvSpPr/>
          <p:nvPr/>
        </p:nvSpPr>
        <p:spPr>
          <a:xfrm>
            <a:off x="6126480" y="1188720"/>
            <a:ext cx="5486400" cy="365760"/>
          </a:xfrm>
          <a:prstGeom prst="rect">
            <a:avLst/>
          </a:prstGeom>
          <a:noFill/>
          <a:ln/>
        </p:spPr>
        <p:txBody>
          <a:bodyPr wrap="square" rtlCol="0" anchor="ctr"/>
          <a:lstStyle/>
          <a:p>
            <a:pPr indent="0" marL="0">
              <a:buNone/>
            </a:pPr>
            <a:r>
              <a:rPr lang="en-US" sz="1800" b="1" dirty="0">
                <a:solidFill>
                  <a:srgbClr val="415A77"/>
                </a:solidFill>
                <a:latin typeface="Calibri" pitchFamily="34" charset="0"/>
                <a:ea typeface="Calibri" pitchFamily="34" charset="-122"/>
                <a:cs typeface="Calibri" pitchFamily="34" charset="-120"/>
              </a:rPr>
              <a:t>Questions this project answers</a:t>
            </a:r>
            <a:endParaRPr lang="en-US" sz="1800" dirty="0"/>
          </a:p>
        </p:txBody>
      </p:sp>
      <p:sp>
        <p:nvSpPr>
          <p:cNvPr id="6" name="Shape 4"/>
          <p:cNvSpPr/>
          <p:nvPr/>
        </p:nvSpPr>
        <p:spPr>
          <a:xfrm>
            <a:off x="6126480" y="1691640"/>
            <a:ext cx="128016" cy="128016"/>
          </a:xfrm>
          <a:prstGeom prst="ellipse">
            <a:avLst/>
          </a:prstGeom>
          <a:solidFill>
            <a:srgbClr val="FF6B35"/>
          </a:solidFill>
          <a:ln/>
        </p:spPr>
      </p:sp>
      <p:sp>
        <p:nvSpPr>
          <p:cNvPr id="7" name="Text 5"/>
          <p:cNvSpPr/>
          <p:nvPr/>
        </p:nvSpPr>
        <p:spPr>
          <a:xfrm>
            <a:off x="6400800" y="157276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Which variables (payload mass, orbit, launch site, flight history) most affect landing outcome?</a:t>
            </a:r>
            <a:endParaRPr lang="en-US" sz="1350" dirty="0"/>
          </a:p>
        </p:txBody>
      </p:sp>
      <p:sp>
        <p:nvSpPr>
          <p:cNvPr id="8" name="Shape 6"/>
          <p:cNvSpPr/>
          <p:nvPr/>
        </p:nvSpPr>
        <p:spPr>
          <a:xfrm>
            <a:off x="6126480" y="2468880"/>
            <a:ext cx="128016" cy="128016"/>
          </a:xfrm>
          <a:prstGeom prst="ellipse">
            <a:avLst/>
          </a:prstGeom>
          <a:solidFill>
            <a:srgbClr val="FF6B35"/>
          </a:solidFill>
          <a:ln/>
        </p:spPr>
      </p:sp>
      <p:sp>
        <p:nvSpPr>
          <p:cNvPr id="9" name="Text 7"/>
          <p:cNvSpPr/>
          <p:nvPr/>
        </p:nvSpPr>
        <p:spPr>
          <a:xfrm>
            <a:off x="6400800" y="235000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Has landing success improved over time, and by how much?</a:t>
            </a:r>
            <a:endParaRPr lang="en-US" sz="1350" dirty="0"/>
          </a:p>
        </p:txBody>
      </p:sp>
      <p:sp>
        <p:nvSpPr>
          <p:cNvPr id="10" name="Shape 8"/>
          <p:cNvSpPr/>
          <p:nvPr/>
        </p:nvSpPr>
        <p:spPr>
          <a:xfrm>
            <a:off x="6126480" y="3246120"/>
            <a:ext cx="128016" cy="128016"/>
          </a:xfrm>
          <a:prstGeom prst="ellipse">
            <a:avLst/>
          </a:prstGeom>
          <a:solidFill>
            <a:srgbClr val="FF6B35"/>
          </a:solidFill>
          <a:ln/>
        </p:spPr>
      </p:sp>
      <p:sp>
        <p:nvSpPr>
          <p:cNvPr id="11" name="Text 9"/>
          <p:cNvSpPr/>
          <p:nvPr/>
        </p:nvSpPr>
        <p:spPr>
          <a:xfrm>
            <a:off x="6400800" y="312724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Can a classification model reliably predict landing outcome before launch?</a:t>
            </a:r>
            <a:endParaRPr lang="en-US" sz="1350" dirty="0"/>
          </a:p>
        </p:txBody>
      </p:sp>
      <p:sp>
        <p:nvSpPr>
          <p:cNvPr id="12" name="Shape 10"/>
          <p:cNvSpPr/>
          <p:nvPr/>
        </p:nvSpPr>
        <p:spPr>
          <a:xfrm>
            <a:off x="6126480" y="4023360"/>
            <a:ext cx="128016" cy="128016"/>
          </a:xfrm>
          <a:prstGeom prst="ellipse">
            <a:avLst/>
          </a:prstGeom>
          <a:solidFill>
            <a:srgbClr val="FF6B35"/>
          </a:solidFill>
          <a:ln/>
        </p:spPr>
      </p:sp>
      <p:sp>
        <p:nvSpPr>
          <p:cNvPr id="13" name="Text 11"/>
          <p:cNvSpPr/>
          <p:nvPr/>
        </p:nvSpPr>
        <p:spPr>
          <a:xfrm>
            <a:off x="6400800" y="3904488"/>
            <a:ext cx="5212080" cy="640080"/>
          </a:xfrm>
          <a:prstGeom prst="rect">
            <a:avLst/>
          </a:prstGeom>
          <a:noFill/>
          <a:ln/>
        </p:spPr>
        <p:txBody>
          <a:bodyPr wrap="square" rtlCol="0" anchor="ctr"/>
          <a:lstStyle/>
          <a:p>
            <a:pPr indent="0" marL="0">
              <a:lnSpc>
                <a:spcPct val="115000"/>
              </a:lnSpc>
              <a:buNone/>
            </a:pPr>
            <a:r>
              <a:rPr lang="en-US" sz="1350" dirty="0">
                <a:solidFill>
                  <a:srgbClr val="1B1B1F"/>
                </a:solidFill>
                <a:latin typeface="Calibri" pitchFamily="34" charset="0"/>
                <a:ea typeface="Calibri" pitchFamily="34" charset="-122"/>
                <a:cs typeface="Calibri" pitchFamily="34" charset="-120"/>
              </a:rPr>
              <a:t>Which model performs best, and how confident can we be in it?</a:t>
            </a:r>
            <a:endParaRPr lang="en-US" sz="1350" dirty="0"/>
          </a:p>
        </p:txBody>
      </p:sp>
      <p:sp>
        <p:nvSpPr>
          <p:cNvPr id="14" name="Shape 12"/>
          <p:cNvSpPr/>
          <p:nvPr/>
        </p:nvSpPr>
        <p:spPr>
          <a:xfrm>
            <a:off x="548640" y="5257800"/>
            <a:ext cx="11064240" cy="1005840"/>
          </a:xfrm>
          <a:prstGeom prst="roundRect">
            <a:avLst>
              <a:gd name="adj" fmla="val 7273"/>
            </a:avLst>
          </a:prstGeom>
          <a:solidFill>
            <a:srgbClr val="0B1D3A"/>
          </a:solidFill>
          <a:ln/>
        </p:spPr>
      </p:sp>
      <p:sp>
        <p:nvSpPr>
          <p:cNvPr id="15" name="Text 13"/>
          <p:cNvSpPr/>
          <p:nvPr/>
        </p:nvSpPr>
        <p:spPr>
          <a:xfrm>
            <a:off x="822960" y="5257800"/>
            <a:ext cx="10515600" cy="1005840"/>
          </a:xfrm>
          <a:prstGeom prst="rect">
            <a:avLst/>
          </a:prstGeom>
          <a:noFill/>
          <a:ln/>
        </p:spPr>
        <p:txBody>
          <a:bodyPr wrap="square"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Approach: SpaceX API + Wikipedia scraping  →  data wrangling  →  EDA (visualization + SQL)  →  interactive analytics (Folium + Dash)  →  classification modeling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A"/>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Methodology: Project Pipeline</a:t>
            </a:r>
            <a:endParaRPr lang="en-US" sz="3000" dirty="0"/>
          </a:p>
        </p:txBody>
      </p:sp>
      <p:sp>
        <p:nvSpPr>
          <p:cNvPr id="3" name="Shape 1"/>
          <p:cNvSpPr/>
          <p:nvPr/>
        </p:nvSpPr>
        <p:spPr>
          <a:xfrm>
            <a:off x="768096" y="2743200"/>
            <a:ext cx="1874520" cy="1371600"/>
          </a:xfrm>
          <a:prstGeom prst="roundRect">
            <a:avLst>
              <a:gd name="adj" fmla="val 6667"/>
            </a:avLst>
          </a:prstGeom>
          <a:solidFill>
            <a:srgbClr val="415A77"/>
          </a:solidFill>
          <a:ln w="19050">
            <a:solidFill>
              <a:srgbClr val="FF6B35"/>
            </a:solidFill>
            <a:prstDash val="solid"/>
          </a:ln>
        </p:spPr>
      </p:sp>
      <p:sp>
        <p:nvSpPr>
          <p:cNvPr id="4" name="Text 2"/>
          <p:cNvSpPr/>
          <p:nvPr/>
        </p:nvSpPr>
        <p:spPr>
          <a:xfrm>
            <a:off x="76809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5" name="Text 3"/>
          <p:cNvSpPr/>
          <p:nvPr/>
        </p:nvSpPr>
        <p:spPr>
          <a:xfrm>
            <a:off x="218541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264261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7" name="Shape 5"/>
          <p:cNvSpPr/>
          <p:nvPr/>
        </p:nvSpPr>
        <p:spPr>
          <a:xfrm>
            <a:off x="2962656" y="2743200"/>
            <a:ext cx="1874520" cy="1371600"/>
          </a:xfrm>
          <a:prstGeom prst="roundRect">
            <a:avLst>
              <a:gd name="adj" fmla="val 6667"/>
            </a:avLst>
          </a:prstGeom>
          <a:solidFill>
            <a:srgbClr val="2E4267"/>
          </a:solidFill>
          <a:ln w="19050">
            <a:solidFill>
              <a:srgbClr val="FF6B35"/>
            </a:solidFill>
            <a:prstDash val="solid"/>
          </a:ln>
        </p:spPr>
      </p:sp>
      <p:sp>
        <p:nvSpPr>
          <p:cNvPr id="8" name="Text 6"/>
          <p:cNvSpPr/>
          <p:nvPr/>
        </p:nvSpPr>
        <p:spPr>
          <a:xfrm>
            <a:off x="296265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Wrangle</a:t>
            </a:r>
            <a:endParaRPr lang="en-US" sz="1500" dirty="0"/>
          </a:p>
        </p:txBody>
      </p:sp>
      <p:sp>
        <p:nvSpPr>
          <p:cNvPr id="9" name="Text 7"/>
          <p:cNvSpPr/>
          <p:nvPr/>
        </p:nvSpPr>
        <p:spPr>
          <a:xfrm>
            <a:off x="437997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483717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11" name="Shape 9"/>
          <p:cNvSpPr/>
          <p:nvPr/>
        </p:nvSpPr>
        <p:spPr>
          <a:xfrm>
            <a:off x="5157216" y="2743200"/>
            <a:ext cx="1874520" cy="1371600"/>
          </a:xfrm>
          <a:prstGeom prst="roundRect">
            <a:avLst>
              <a:gd name="adj" fmla="val 6667"/>
            </a:avLst>
          </a:prstGeom>
          <a:solidFill>
            <a:srgbClr val="415A77"/>
          </a:solidFill>
          <a:ln w="19050">
            <a:solidFill>
              <a:srgbClr val="FF6B35"/>
            </a:solidFill>
            <a:prstDash val="solid"/>
          </a:ln>
        </p:spPr>
      </p:sp>
      <p:sp>
        <p:nvSpPr>
          <p:cNvPr id="12" name="Text 10"/>
          <p:cNvSpPr/>
          <p:nvPr/>
        </p:nvSpPr>
        <p:spPr>
          <a:xfrm>
            <a:off x="515721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Explore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(Viz + SQL)</a:t>
            </a:r>
            <a:endParaRPr lang="en-US" sz="1500" dirty="0"/>
          </a:p>
        </p:txBody>
      </p:sp>
      <p:sp>
        <p:nvSpPr>
          <p:cNvPr id="13" name="Text 11"/>
          <p:cNvSpPr/>
          <p:nvPr/>
        </p:nvSpPr>
        <p:spPr>
          <a:xfrm>
            <a:off x="657453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703173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15" name="Shape 13"/>
          <p:cNvSpPr/>
          <p:nvPr/>
        </p:nvSpPr>
        <p:spPr>
          <a:xfrm>
            <a:off x="7351776" y="2743200"/>
            <a:ext cx="1874520" cy="1371600"/>
          </a:xfrm>
          <a:prstGeom prst="roundRect">
            <a:avLst>
              <a:gd name="adj" fmla="val 6667"/>
            </a:avLst>
          </a:prstGeom>
          <a:solidFill>
            <a:srgbClr val="2E4267"/>
          </a:solidFill>
          <a:ln w="19050">
            <a:solidFill>
              <a:srgbClr val="FF6B35"/>
            </a:solidFill>
            <a:prstDash val="solid"/>
          </a:ln>
        </p:spPr>
      </p:sp>
      <p:sp>
        <p:nvSpPr>
          <p:cNvPr id="16" name="Text 14"/>
          <p:cNvSpPr/>
          <p:nvPr/>
        </p:nvSpPr>
        <p:spPr>
          <a:xfrm>
            <a:off x="735177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Visual</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Analytics</a:t>
            </a:r>
            <a:endParaRPr lang="en-US" sz="1500" dirty="0"/>
          </a:p>
        </p:txBody>
      </p:sp>
      <p:sp>
        <p:nvSpPr>
          <p:cNvPr id="17" name="Text 15"/>
          <p:cNvSpPr/>
          <p:nvPr/>
        </p:nvSpPr>
        <p:spPr>
          <a:xfrm>
            <a:off x="876909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9226296" y="3108960"/>
            <a:ext cx="320040" cy="640080"/>
          </a:xfrm>
          <a:prstGeom prst="rect">
            <a:avLst/>
          </a:prstGeom>
          <a:noFill/>
          <a:ln/>
        </p:spPr>
        <p:txBody>
          <a:bodyPr wrap="square" rtlCol="0" anchor="ctr"/>
          <a:lstStyle/>
          <a:p>
            <a:pPr algn="ctr" indent="0" marL="0">
              <a:buNone/>
            </a:pPr>
            <a:r>
              <a:rPr lang="en-US" sz="2600" dirty="0">
                <a:solidFill>
                  <a:srgbClr val="CADCFC"/>
                </a:solidFill>
              </a:rPr>
              <a:t>→</a:t>
            </a:r>
            <a:endParaRPr lang="en-US" sz="2600" dirty="0"/>
          </a:p>
        </p:txBody>
      </p:sp>
      <p:sp>
        <p:nvSpPr>
          <p:cNvPr id="19" name="Shape 17"/>
          <p:cNvSpPr/>
          <p:nvPr/>
        </p:nvSpPr>
        <p:spPr>
          <a:xfrm>
            <a:off x="9546336" y="2743200"/>
            <a:ext cx="1874520" cy="1371600"/>
          </a:xfrm>
          <a:prstGeom prst="roundRect">
            <a:avLst>
              <a:gd name="adj" fmla="val 6667"/>
            </a:avLst>
          </a:prstGeom>
          <a:solidFill>
            <a:srgbClr val="415A77"/>
          </a:solidFill>
          <a:ln w="19050">
            <a:solidFill>
              <a:srgbClr val="FF6B35"/>
            </a:solidFill>
            <a:prstDash val="solid"/>
          </a:ln>
        </p:spPr>
      </p:sp>
      <p:sp>
        <p:nvSpPr>
          <p:cNvPr id="20" name="Text 18"/>
          <p:cNvSpPr/>
          <p:nvPr/>
        </p:nvSpPr>
        <p:spPr>
          <a:xfrm>
            <a:off x="9546336" y="2743200"/>
            <a:ext cx="1874520" cy="13716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Predict</a:t>
            </a:r>
            <a:endParaRPr lang="en-US" sz="1500" dirty="0"/>
          </a:p>
        </p:txBody>
      </p:sp>
      <p:sp>
        <p:nvSpPr>
          <p:cNvPr id="21" name="Text 19"/>
          <p:cNvSpPr/>
          <p:nvPr/>
        </p:nvSpPr>
        <p:spPr>
          <a:xfrm>
            <a:off x="10963656" y="2423160"/>
            <a:ext cx="457200" cy="365760"/>
          </a:xfrm>
          <a:prstGeom prst="rect">
            <a:avLst/>
          </a:prstGeom>
          <a:noFill/>
          <a:ln/>
        </p:spPr>
        <p:txBody>
          <a:bodyPr wrap="square" rtlCol="0" anchor="ctr"/>
          <a:lstStyle/>
          <a:p>
            <a:pPr algn="r" indent="0" marL="0">
              <a:buNone/>
            </a:pPr>
            <a:r>
              <a:rPr lang="en-US" sz="1400" b="1" dirty="0">
                <a:solidFill>
                  <a:srgbClr val="FF6B35"/>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548640" y="4663440"/>
            <a:ext cx="11064240" cy="54864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Each stage below has its own methodology and result slides, and each was actually run against the real Falcon 9 launch dataset — nothing in this deck is a mock-up.</a:t>
            </a:r>
            <a:endParaRPr lang="en-US" sz="1400" dirty="0"/>
          </a:p>
        </p:txBody>
      </p:sp>
      <p:sp>
        <p:nvSpPr>
          <p:cNvPr id="23" name="Text 21"/>
          <p:cNvSpPr/>
          <p:nvPr/>
        </p:nvSpPr>
        <p:spPr>
          <a:xfrm>
            <a:off x="548640" y="5257800"/>
            <a:ext cx="11064240" cy="1188720"/>
          </a:xfrm>
          <a:prstGeom prst="rect">
            <a:avLst/>
          </a:prstGeom>
          <a:noFill/>
          <a:ln/>
        </p:spPr>
        <p:txBody>
          <a:bodyPr wrap="square" rtlCol="0" anchor="ctr"/>
          <a:lstStyle/>
          <a:p>
            <a:pPr algn="ctr" indent="0" marL="0">
              <a:lnSpc>
                <a:spcPct val="130000"/>
              </a:lnSpc>
              <a:buNone/>
            </a:pPr>
            <a:r>
              <a:rPr lang="en-US" sz="1300" dirty="0">
                <a:solidFill>
                  <a:srgbClr val="CADCFC"/>
                </a:solidFill>
                <a:latin typeface="Calibri" pitchFamily="34" charset="0"/>
                <a:ea typeface="Calibri" pitchFamily="34" charset="-122"/>
                <a:cs typeface="Calibri" pitchFamily="34" charset="-120"/>
              </a:rPr>
              <a:t>Collection pulled raw launch records from the SpaceX API and Wikipedia. Wrangling cleaned that data and defined the landing-success label. Exploration used both visualization and SQL to surface patterns. Visual analytics turned those patterns into an interactive map and dashboard a non-technical stakeholder can use directly. Prediction trained and compared four classifiers to turn all of that into a single, actionable answer: will this booster land?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Data Collection &amp; Wrangling</a:t>
            </a:r>
            <a:endParaRPr lang="en-US" sz="2800" dirty="0"/>
          </a:p>
        </p:txBody>
      </p:sp>
      <p:sp>
        <p:nvSpPr>
          <p:cNvPr id="3" name="Shape 1"/>
          <p:cNvSpPr/>
          <p:nvPr/>
        </p:nvSpPr>
        <p:spPr>
          <a:xfrm>
            <a:off x="548640" y="1371600"/>
            <a:ext cx="502920" cy="502920"/>
          </a:xfrm>
          <a:prstGeom prst="ellipse">
            <a:avLst/>
          </a:prstGeom>
          <a:solidFill>
            <a:srgbClr val="FF6B35"/>
          </a:solidFill>
          <a:ln/>
        </p:spPr>
      </p:sp>
      <p:sp>
        <p:nvSpPr>
          <p:cNvPr id="4" name="Text 2"/>
          <p:cNvSpPr/>
          <p:nvPr/>
        </p:nvSpPr>
        <p:spPr>
          <a:xfrm>
            <a:off x="548640" y="13716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p:nvPr/>
        </p:nvSpPr>
        <p:spPr>
          <a:xfrm>
            <a:off x="548640" y="2011680"/>
            <a:ext cx="3520440" cy="457200"/>
          </a:xfrm>
          <a:prstGeom prst="rect">
            <a:avLst/>
          </a:prstGeom>
          <a:noFill/>
          <a:ln/>
        </p:spPr>
        <p:txBody>
          <a:bodyPr wrap="square"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Data Collection</a:t>
            </a:r>
            <a:endParaRPr lang="en-US" sz="1700" dirty="0"/>
          </a:p>
        </p:txBody>
      </p:sp>
      <p:sp>
        <p:nvSpPr>
          <p:cNvPr id="6" name="Text 4"/>
          <p:cNvSpPr/>
          <p:nvPr/>
        </p:nvSpPr>
        <p:spPr>
          <a:xfrm>
            <a:off x="548640" y="2514600"/>
            <a:ext cx="3520440" cy="2926080"/>
          </a:xfrm>
          <a:prstGeom prst="rect">
            <a:avLst/>
          </a:prstGeom>
          <a:noFill/>
          <a:ln/>
        </p:spPr>
        <p:txBody>
          <a:bodyPr wrap="square" rtlCol="0" anchor="ctr"/>
          <a:lstStyle/>
          <a:p>
            <a:pPr indent="0" marL="0">
              <a:lnSpc>
                <a:spcPct val="125000"/>
              </a:lnSpc>
              <a:buNone/>
            </a:pPr>
            <a:r>
              <a:rPr lang="en-US" sz="1300" dirty="0">
                <a:solidFill>
                  <a:srgbClr val="1B1B1F"/>
                </a:solidFill>
                <a:latin typeface="Calibri" pitchFamily="34" charset="0"/>
                <a:ea typeface="Calibri" pitchFamily="34" charset="-122"/>
                <a:cs typeface="Calibri" pitchFamily="34" charset="-120"/>
              </a:rPr>
              <a:t>Pulled launch records from the public SpaceX REST API (rocket, payload, launch site, and outcome fields for every Falcon 9 flight), then scraped the Wikipedia “List of Falcon 9 and Falcon Heavy launches” page with BeautifulSoup to fill in fields the API doesn't cover.</a:t>
            </a:r>
            <a:endParaRPr lang="en-US" sz="1300" dirty="0"/>
          </a:p>
        </p:txBody>
      </p:sp>
      <p:sp>
        <p:nvSpPr>
          <p:cNvPr id="7" name="Shape 5"/>
          <p:cNvSpPr/>
          <p:nvPr/>
        </p:nvSpPr>
        <p:spPr>
          <a:xfrm>
            <a:off x="4343400" y="1371600"/>
            <a:ext cx="502920" cy="502920"/>
          </a:xfrm>
          <a:prstGeom prst="ellipse">
            <a:avLst/>
          </a:prstGeom>
          <a:solidFill>
            <a:srgbClr val="FF6B35"/>
          </a:solidFill>
          <a:ln/>
        </p:spPr>
      </p:sp>
      <p:sp>
        <p:nvSpPr>
          <p:cNvPr id="8" name="Text 6"/>
          <p:cNvSpPr/>
          <p:nvPr/>
        </p:nvSpPr>
        <p:spPr>
          <a:xfrm>
            <a:off x="4343400" y="13716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4343400" y="2011680"/>
            <a:ext cx="3520440" cy="457200"/>
          </a:xfrm>
          <a:prstGeom prst="rect">
            <a:avLst/>
          </a:prstGeom>
          <a:noFill/>
          <a:ln/>
        </p:spPr>
        <p:txBody>
          <a:bodyPr wrap="square"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Data Wrangling</a:t>
            </a:r>
            <a:endParaRPr lang="en-US" sz="1700" dirty="0"/>
          </a:p>
        </p:txBody>
      </p:sp>
      <p:sp>
        <p:nvSpPr>
          <p:cNvPr id="10" name="Text 8"/>
          <p:cNvSpPr/>
          <p:nvPr/>
        </p:nvSpPr>
        <p:spPr>
          <a:xfrm>
            <a:off x="4343400" y="2514600"/>
            <a:ext cx="3520440" cy="2926080"/>
          </a:xfrm>
          <a:prstGeom prst="rect">
            <a:avLst/>
          </a:prstGeom>
          <a:noFill/>
          <a:ln/>
        </p:spPr>
        <p:txBody>
          <a:bodyPr wrap="square" rtlCol="0" anchor="ctr"/>
          <a:lstStyle/>
          <a:p>
            <a:pPr indent="0" marL="0">
              <a:lnSpc>
                <a:spcPct val="125000"/>
              </a:lnSpc>
              <a:buNone/>
            </a:pPr>
            <a:r>
              <a:rPr lang="en-US" sz="1300" dirty="0">
                <a:solidFill>
                  <a:srgbClr val="1B1B1F"/>
                </a:solidFill>
                <a:latin typeface="Calibri" pitchFamily="34" charset="0"/>
                <a:ea typeface="Calibri" pitchFamily="34" charset="-122"/>
                <a:cs typeface="Calibri" pitchFamily="34" charset="-120"/>
              </a:rPr>
              <a:t>Combined both sources, filled missing PayloadMass values with the column mean, and engineered the target label: Class = 1 when the booster landed successfully (ground pad or drone ship), 0 otherwise.</a:t>
            </a:r>
            <a:endParaRPr lang="en-US" sz="1300" dirty="0"/>
          </a:p>
        </p:txBody>
      </p:sp>
      <p:sp>
        <p:nvSpPr>
          <p:cNvPr id="11" name="Shape 9"/>
          <p:cNvSpPr/>
          <p:nvPr/>
        </p:nvSpPr>
        <p:spPr>
          <a:xfrm>
            <a:off x="8138160" y="1371600"/>
            <a:ext cx="502920" cy="502920"/>
          </a:xfrm>
          <a:prstGeom prst="ellipse">
            <a:avLst/>
          </a:prstGeom>
          <a:solidFill>
            <a:srgbClr val="FF6B35"/>
          </a:solidFill>
          <a:ln/>
        </p:spPr>
      </p:sp>
      <p:sp>
        <p:nvSpPr>
          <p:cNvPr id="12" name="Text 10"/>
          <p:cNvSpPr/>
          <p:nvPr/>
        </p:nvSpPr>
        <p:spPr>
          <a:xfrm>
            <a:off x="8138160" y="13716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8138160" y="2011680"/>
            <a:ext cx="3520440" cy="457200"/>
          </a:xfrm>
          <a:prstGeom prst="rect">
            <a:avLst/>
          </a:prstGeom>
          <a:noFill/>
          <a:ln/>
        </p:spPr>
        <p:txBody>
          <a:bodyPr wrap="square" rtlCol="0" anchor="ctr"/>
          <a:lstStyle/>
          <a:p>
            <a:pPr indent="0" marL="0">
              <a:buNone/>
            </a:pPr>
            <a:r>
              <a:rPr lang="en-US" sz="1700" b="1" dirty="0">
                <a:solidFill>
                  <a:srgbClr val="0B1D3A"/>
                </a:solidFill>
                <a:latin typeface="Calibri" pitchFamily="34" charset="0"/>
                <a:ea typeface="Calibri" pitchFamily="34" charset="-122"/>
                <a:cs typeface="Calibri" pitchFamily="34" charset="-120"/>
              </a:rPr>
              <a:t>Feature Preparation</a:t>
            </a:r>
            <a:endParaRPr lang="en-US" sz="1700" dirty="0"/>
          </a:p>
        </p:txBody>
      </p:sp>
      <p:sp>
        <p:nvSpPr>
          <p:cNvPr id="14" name="Text 12"/>
          <p:cNvSpPr/>
          <p:nvPr/>
        </p:nvSpPr>
        <p:spPr>
          <a:xfrm>
            <a:off x="8138160" y="2514600"/>
            <a:ext cx="3520440" cy="2926080"/>
          </a:xfrm>
          <a:prstGeom prst="rect">
            <a:avLst/>
          </a:prstGeom>
          <a:noFill/>
          <a:ln/>
        </p:spPr>
        <p:txBody>
          <a:bodyPr wrap="square" rtlCol="0" anchor="ctr"/>
          <a:lstStyle/>
          <a:p>
            <a:pPr indent="0" marL="0">
              <a:lnSpc>
                <a:spcPct val="125000"/>
              </a:lnSpc>
              <a:buNone/>
            </a:pPr>
            <a:r>
              <a:rPr lang="en-US" sz="1300" dirty="0">
                <a:solidFill>
                  <a:srgbClr val="1B1B1F"/>
                </a:solidFill>
                <a:latin typeface="Calibri" pitchFamily="34" charset="0"/>
                <a:ea typeface="Calibri" pitchFamily="34" charset="-122"/>
                <a:cs typeface="Calibri" pitchFamily="34" charset="-120"/>
              </a:rPr>
              <a:t>One-hot encoded categorical fields (Orbit, LaunchSite, LandingPad, Serial) and standardized numeric features, producing the model-ready feature table used for both EDA and classification.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EDA with Visualization &amp; SQL</a:t>
            </a:r>
            <a:endParaRPr lang="en-US" sz="2800" dirty="0"/>
          </a:p>
        </p:txBody>
      </p:sp>
      <p:sp>
        <p:nvSpPr>
          <p:cNvPr id="3" name="Shape 1"/>
          <p:cNvSpPr/>
          <p:nvPr/>
        </p:nvSpPr>
        <p:spPr>
          <a:xfrm>
            <a:off x="548640" y="1371600"/>
            <a:ext cx="5394960" cy="4023360"/>
          </a:xfrm>
          <a:prstGeom prst="roundRect">
            <a:avLst>
              <a:gd name="adj" fmla="val 1818"/>
            </a:avLst>
          </a:prstGeom>
          <a:solidFill>
            <a:srgbClr val="F4F6FA"/>
          </a:solidFill>
          <a:ln/>
        </p:spPr>
      </p:sp>
      <p:sp>
        <p:nvSpPr>
          <p:cNvPr id="4" name="Text 2"/>
          <p:cNvSpPr/>
          <p:nvPr/>
        </p:nvSpPr>
        <p:spPr>
          <a:xfrm>
            <a:off x="822960" y="1554480"/>
            <a:ext cx="4937760" cy="457200"/>
          </a:xfrm>
          <a:prstGeom prst="rect">
            <a:avLst/>
          </a:prstGeom>
          <a:noFill/>
          <a:ln/>
        </p:spPr>
        <p:txBody>
          <a:bodyPr wrap="square" rtlCol="0" anchor="ctr"/>
          <a:lstStyle/>
          <a:p>
            <a:pPr indent="0" marL="0">
              <a:buNone/>
            </a:pPr>
            <a:r>
              <a:rPr lang="en-US" sz="1600" b="1" dirty="0">
                <a:solidFill>
                  <a:srgbClr val="415A77"/>
                </a:solidFill>
                <a:latin typeface="Calibri" pitchFamily="34" charset="0"/>
                <a:ea typeface="Calibri" pitchFamily="34" charset="-122"/>
                <a:cs typeface="Calibri" pitchFamily="34" charset="-120"/>
              </a:rPr>
              <a:t>Visualization (Matplotlib / Seaborn)</a:t>
            </a:r>
            <a:endParaRPr lang="en-US" sz="1600" dirty="0"/>
          </a:p>
        </p:txBody>
      </p:sp>
      <p:sp>
        <p:nvSpPr>
          <p:cNvPr id="5" name="Text 3"/>
          <p:cNvSpPr/>
          <p:nvPr/>
        </p:nvSpPr>
        <p:spPr>
          <a:xfrm>
            <a:off x="822960" y="2103120"/>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Flight number vs. payload mass, colored by outcome</a:t>
            </a:r>
            <a:endParaRPr lang="en-US" sz="1300" dirty="0"/>
          </a:p>
        </p:txBody>
      </p:sp>
      <p:sp>
        <p:nvSpPr>
          <p:cNvPr id="6" name="Text 4"/>
          <p:cNvSpPr/>
          <p:nvPr/>
        </p:nvSpPr>
        <p:spPr>
          <a:xfrm>
            <a:off x="822960" y="2670048"/>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Launch site and orbit type vs. outcome</a:t>
            </a:r>
            <a:endParaRPr lang="en-US" sz="1300" dirty="0"/>
          </a:p>
        </p:txBody>
      </p:sp>
      <p:sp>
        <p:nvSpPr>
          <p:cNvPr id="7" name="Text 5"/>
          <p:cNvSpPr/>
          <p:nvPr/>
        </p:nvSpPr>
        <p:spPr>
          <a:xfrm>
            <a:off x="822960" y="3236976"/>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Landing success rate by orbit type</a:t>
            </a:r>
            <a:endParaRPr lang="en-US" sz="1300" dirty="0"/>
          </a:p>
        </p:txBody>
      </p:sp>
      <p:sp>
        <p:nvSpPr>
          <p:cNvPr id="8" name="Text 6"/>
          <p:cNvSpPr/>
          <p:nvPr/>
        </p:nvSpPr>
        <p:spPr>
          <a:xfrm>
            <a:off x="822960" y="3803904"/>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Yearly trend in landing success rate</a:t>
            </a:r>
            <a:endParaRPr lang="en-US" sz="1300" dirty="0"/>
          </a:p>
        </p:txBody>
      </p:sp>
      <p:sp>
        <p:nvSpPr>
          <p:cNvPr id="9" name="Shape 7"/>
          <p:cNvSpPr/>
          <p:nvPr/>
        </p:nvSpPr>
        <p:spPr>
          <a:xfrm>
            <a:off x="6217920" y="1371600"/>
            <a:ext cx="5394960" cy="4023360"/>
          </a:xfrm>
          <a:prstGeom prst="roundRect">
            <a:avLst>
              <a:gd name="adj" fmla="val 1818"/>
            </a:avLst>
          </a:prstGeom>
          <a:solidFill>
            <a:srgbClr val="F4F6FA"/>
          </a:solidFill>
          <a:ln/>
        </p:spPr>
      </p:sp>
      <p:sp>
        <p:nvSpPr>
          <p:cNvPr id="10" name="Text 8"/>
          <p:cNvSpPr/>
          <p:nvPr/>
        </p:nvSpPr>
        <p:spPr>
          <a:xfrm>
            <a:off x="6492240" y="1554480"/>
            <a:ext cx="4937760" cy="457200"/>
          </a:xfrm>
          <a:prstGeom prst="rect">
            <a:avLst/>
          </a:prstGeom>
          <a:noFill/>
          <a:ln/>
        </p:spPr>
        <p:txBody>
          <a:bodyPr wrap="square" rtlCol="0" anchor="ctr"/>
          <a:lstStyle/>
          <a:p>
            <a:pPr indent="0" marL="0">
              <a:buNone/>
            </a:pPr>
            <a:r>
              <a:rPr lang="en-US" sz="1600" b="1" dirty="0">
                <a:solidFill>
                  <a:srgbClr val="415A77"/>
                </a:solidFill>
                <a:latin typeface="Calibri" pitchFamily="34" charset="0"/>
                <a:ea typeface="Calibri" pitchFamily="34" charset="-122"/>
                <a:cs typeface="Calibri" pitchFamily="34" charset="-120"/>
              </a:rPr>
              <a:t>SQL (queried against the launch records table)</a:t>
            </a:r>
            <a:endParaRPr lang="en-US" sz="1600" dirty="0"/>
          </a:p>
        </p:txBody>
      </p:sp>
      <p:sp>
        <p:nvSpPr>
          <p:cNvPr id="11" name="Text 9"/>
          <p:cNvSpPr/>
          <p:nvPr/>
        </p:nvSpPr>
        <p:spPr>
          <a:xfrm>
            <a:off x="6492240" y="2103120"/>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Unique launch sites and site-specific records</a:t>
            </a:r>
            <a:endParaRPr lang="en-US" sz="1300" dirty="0"/>
          </a:p>
        </p:txBody>
      </p:sp>
      <p:sp>
        <p:nvSpPr>
          <p:cNvPr id="12" name="Text 10"/>
          <p:cNvSpPr/>
          <p:nvPr/>
        </p:nvSpPr>
        <p:spPr>
          <a:xfrm>
            <a:off x="6492240" y="2670048"/>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Total / average payload mass by customer &amp; booster</a:t>
            </a:r>
            <a:endParaRPr lang="en-US" sz="1300" dirty="0"/>
          </a:p>
        </p:txBody>
      </p:sp>
      <p:sp>
        <p:nvSpPr>
          <p:cNvPr id="13" name="Text 11"/>
          <p:cNvSpPr/>
          <p:nvPr/>
        </p:nvSpPr>
        <p:spPr>
          <a:xfrm>
            <a:off x="6492240" y="3236976"/>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Date of first successful ground-pad landing</a:t>
            </a:r>
            <a:endParaRPr lang="en-US" sz="1300" dirty="0"/>
          </a:p>
        </p:txBody>
      </p:sp>
      <p:sp>
        <p:nvSpPr>
          <p:cNvPr id="14" name="Text 12"/>
          <p:cNvSpPr/>
          <p:nvPr/>
        </p:nvSpPr>
        <p:spPr>
          <a:xfrm>
            <a:off x="6492240" y="3803904"/>
            <a:ext cx="4937760" cy="502920"/>
          </a:xfrm>
          <a:prstGeom prst="rect">
            <a:avLst/>
          </a:prstGeom>
          <a:noFill/>
          <a:ln/>
        </p:spPr>
        <p:txBody>
          <a:bodyPr wrap="square" rtlCol="0" anchor="ctr"/>
          <a:lstStyle/>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Landing outcome counts, ranked, over a date range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Interactive Visual Analytics</a:t>
            </a:r>
            <a:endParaRPr lang="en-US" sz="2800" dirty="0"/>
          </a:p>
        </p:txBody>
      </p:sp>
      <p:sp>
        <p:nvSpPr>
          <p:cNvPr id="3" name="Shape 1"/>
          <p:cNvSpPr/>
          <p:nvPr/>
        </p:nvSpPr>
        <p:spPr>
          <a:xfrm>
            <a:off x="548640" y="1463040"/>
            <a:ext cx="5394960" cy="3931920"/>
          </a:xfrm>
          <a:prstGeom prst="roundRect">
            <a:avLst>
              <a:gd name="adj" fmla="val 1860"/>
            </a:avLst>
          </a:prstGeom>
          <a:solidFill>
            <a:srgbClr val="0B1D3A"/>
          </a:solidFill>
          <a:ln/>
        </p:spPr>
      </p:sp>
      <p:sp>
        <p:nvSpPr>
          <p:cNvPr id="4" name="Text 2"/>
          <p:cNvSpPr/>
          <p:nvPr/>
        </p:nvSpPr>
        <p:spPr>
          <a:xfrm>
            <a:off x="822960" y="1691640"/>
            <a:ext cx="4846320" cy="457200"/>
          </a:xfrm>
          <a:prstGeom prst="rect">
            <a:avLst/>
          </a:prstGeom>
          <a:noFill/>
          <a:ln/>
        </p:spPr>
        <p:txBody>
          <a:bodyPr wrap="square" rtlCol="0" anchor="ctr"/>
          <a:lstStyle/>
          <a:p>
            <a:pPr indent="0" marL="0">
              <a:buNone/>
            </a:pPr>
            <a:r>
              <a:rPr lang="en-US" sz="1800" b="1" dirty="0">
                <a:solidFill>
                  <a:srgbClr val="FF6B35"/>
                </a:solidFill>
                <a:latin typeface="Cambria" pitchFamily="34" charset="0"/>
                <a:ea typeface="Cambria" pitchFamily="34" charset="-122"/>
                <a:cs typeface="Cambria" pitchFamily="34" charset="-120"/>
              </a:rPr>
              <a:t>Folium</a:t>
            </a:r>
            <a:endParaRPr lang="en-US" sz="1800" dirty="0"/>
          </a:p>
        </p:txBody>
      </p:sp>
      <p:sp>
        <p:nvSpPr>
          <p:cNvPr id="5" name="Text 3"/>
          <p:cNvSpPr/>
          <p:nvPr/>
        </p:nvSpPr>
        <p:spPr>
          <a:xfrm>
            <a:off x="822960" y="2240280"/>
            <a:ext cx="4846320" cy="2926080"/>
          </a:xfrm>
          <a:prstGeom prst="rect">
            <a:avLst/>
          </a:prstGeom>
          <a:noFill/>
          <a:ln/>
        </p:spPr>
        <p:txBody>
          <a:bodyPr wrap="square" rtlCol="0" anchor="ctr"/>
          <a:lstStyle/>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Plotted every launch site on an interactive map, colored individual launch markers green (success) or red (failure), and calculated the distance from each pad to its nearest coastline to check whether site placement relates to launch safety practice.</a:t>
            </a:r>
            <a:endParaRPr lang="en-US" sz="1350" dirty="0"/>
          </a:p>
        </p:txBody>
      </p:sp>
      <p:sp>
        <p:nvSpPr>
          <p:cNvPr id="6" name="Shape 4"/>
          <p:cNvSpPr/>
          <p:nvPr/>
        </p:nvSpPr>
        <p:spPr>
          <a:xfrm>
            <a:off x="6217920" y="1463040"/>
            <a:ext cx="5394960" cy="3931920"/>
          </a:xfrm>
          <a:prstGeom prst="roundRect">
            <a:avLst>
              <a:gd name="adj" fmla="val 1860"/>
            </a:avLst>
          </a:prstGeom>
          <a:solidFill>
            <a:srgbClr val="415A77"/>
          </a:solidFill>
          <a:ln/>
        </p:spPr>
      </p:sp>
      <p:sp>
        <p:nvSpPr>
          <p:cNvPr id="7" name="Text 5"/>
          <p:cNvSpPr/>
          <p:nvPr/>
        </p:nvSpPr>
        <p:spPr>
          <a:xfrm>
            <a:off x="6492240" y="1691640"/>
            <a:ext cx="4846320" cy="457200"/>
          </a:xfrm>
          <a:prstGeom prst="rect">
            <a:avLst/>
          </a:prstGeom>
          <a:noFill/>
          <a:ln/>
        </p:spPr>
        <p:txBody>
          <a:bodyPr wrap="square" rtlCol="0" anchor="ctr"/>
          <a:lstStyle/>
          <a:p>
            <a:pPr indent="0" marL="0">
              <a:buNone/>
            </a:pPr>
            <a:r>
              <a:rPr lang="en-US" sz="1800" b="1" dirty="0">
                <a:solidFill>
                  <a:srgbClr val="FF6B35"/>
                </a:solidFill>
                <a:latin typeface="Cambria" pitchFamily="34" charset="0"/>
                <a:ea typeface="Cambria" pitchFamily="34" charset="-122"/>
                <a:cs typeface="Cambria" pitchFamily="34" charset="-120"/>
              </a:rPr>
              <a:t>Plotly Dash</a:t>
            </a:r>
            <a:endParaRPr lang="en-US" sz="1800" dirty="0"/>
          </a:p>
        </p:txBody>
      </p:sp>
      <p:sp>
        <p:nvSpPr>
          <p:cNvPr id="8" name="Text 6"/>
          <p:cNvSpPr/>
          <p:nvPr/>
        </p:nvSpPr>
        <p:spPr>
          <a:xfrm>
            <a:off x="6492240" y="2240280"/>
            <a:ext cx="4846320" cy="2926080"/>
          </a:xfrm>
          <a:prstGeom prst="rect">
            <a:avLst/>
          </a:prstGeom>
          <a:noFill/>
          <a:ln/>
        </p:spPr>
        <p:txBody>
          <a:bodyPr wrap="square"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Built a live dashboard where a director-level user can pick a launch site (or all sites) and a payload range from dropdowns/sliders, and instantly see the success-rate pie chart and the payload-vs-outcome scatter plot update — no need to request a new static chart for every question.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Methodology: Predictive Analysis</a:t>
            </a:r>
            <a:endParaRPr lang="en-US" sz="2800" dirty="0"/>
          </a:p>
        </p:txBody>
      </p:sp>
      <p:sp>
        <p:nvSpPr>
          <p:cNvPr id="3" name="Text 1"/>
          <p:cNvSpPr/>
          <p:nvPr/>
        </p:nvSpPr>
        <p:spPr>
          <a:xfrm>
            <a:off x="548640" y="1280160"/>
            <a:ext cx="11064240" cy="1005840"/>
          </a:xfrm>
          <a:prstGeom prst="rect">
            <a:avLst/>
          </a:prstGeom>
          <a:noFill/>
          <a:ln/>
        </p:spPr>
        <p:txBody>
          <a:bodyPr wrap="square" rtlCol="0" anchor="ctr"/>
          <a:lstStyle/>
          <a:p>
            <a:pPr indent="0" marL="0">
              <a:lnSpc>
                <a:spcPct val="130000"/>
              </a:lnSpc>
              <a:buNone/>
            </a:pPr>
            <a:r>
              <a:rPr lang="en-US" sz="1450" dirty="0">
                <a:solidFill>
                  <a:srgbClr val="1B1B1F"/>
                </a:solidFill>
                <a:latin typeface="Calibri" pitchFamily="34" charset="0"/>
                <a:ea typeface="Calibri" pitchFamily="34" charset="-122"/>
                <a:cs typeface="Calibri" pitchFamily="34" charset="-120"/>
              </a:rPr>
              <a:t>The wrangled, one-hot-encoded feature set (FlightNumber, PayloadMass, Orbit, LaunchSite, GridFins, Reused, Legs, LandingPad, Block, Serial, etc.) was standardized and split 80/20 into training and test sets. Four classifiers were tuned with 10-fold GridSearchCV and compared on held-out test accuracy:</a:t>
            </a:r>
            <a:endParaRPr lang="en-US" sz="1450" dirty="0"/>
          </a:p>
        </p:txBody>
      </p:sp>
      <p:sp>
        <p:nvSpPr>
          <p:cNvPr id="4" name="Shape 2"/>
          <p:cNvSpPr/>
          <p:nvPr/>
        </p:nvSpPr>
        <p:spPr>
          <a:xfrm>
            <a:off x="548640" y="2514600"/>
            <a:ext cx="2606040" cy="1554480"/>
          </a:xfrm>
          <a:prstGeom prst="roundRect">
            <a:avLst>
              <a:gd name="adj" fmla="val 4706"/>
            </a:avLst>
          </a:prstGeom>
          <a:solidFill>
            <a:srgbClr val="F4F6FA"/>
          </a:solidFill>
          <a:ln/>
        </p:spPr>
      </p:sp>
      <p:sp>
        <p:nvSpPr>
          <p:cNvPr id="5" name="Text 3"/>
          <p:cNvSpPr/>
          <p:nvPr/>
        </p:nvSpPr>
        <p:spPr>
          <a:xfrm>
            <a:off x="68580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Logistic Regression</a:t>
            </a:r>
            <a:endParaRPr lang="en-US" sz="1350" dirty="0"/>
          </a:p>
        </p:txBody>
      </p:sp>
      <p:sp>
        <p:nvSpPr>
          <p:cNvPr id="6" name="Text 4"/>
          <p:cNvSpPr/>
          <p:nvPr/>
        </p:nvSpPr>
        <p:spPr>
          <a:xfrm>
            <a:off x="68580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C and solver</a:t>
            </a:r>
            <a:endParaRPr lang="en-US" sz="1150" dirty="0"/>
          </a:p>
        </p:txBody>
      </p:sp>
      <p:sp>
        <p:nvSpPr>
          <p:cNvPr id="7" name="Shape 5"/>
          <p:cNvSpPr/>
          <p:nvPr/>
        </p:nvSpPr>
        <p:spPr>
          <a:xfrm>
            <a:off x="3429000" y="2514600"/>
            <a:ext cx="2606040" cy="1554480"/>
          </a:xfrm>
          <a:prstGeom prst="roundRect">
            <a:avLst>
              <a:gd name="adj" fmla="val 4706"/>
            </a:avLst>
          </a:prstGeom>
          <a:solidFill>
            <a:srgbClr val="F4F6FA"/>
          </a:solidFill>
          <a:ln/>
        </p:spPr>
      </p:sp>
      <p:sp>
        <p:nvSpPr>
          <p:cNvPr id="8" name="Text 6"/>
          <p:cNvSpPr/>
          <p:nvPr/>
        </p:nvSpPr>
        <p:spPr>
          <a:xfrm>
            <a:off x="356616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Support Vector Machine</a:t>
            </a:r>
            <a:endParaRPr lang="en-US" sz="1350" dirty="0"/>
          </a:p>
        </p:txBody>
      </p:sp>
      <p:sp>
        <p:nvSpPr>
          <p:cNvPr id="9" name="Text 7"/>
          <p:cNvSpPr/>
          <p:nvPr/>
        </p:nvSpPr>
        <p:spPr>
          <a:xfrm>
            <a:off x="356616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kernel, C, gamma</a:t>
            </a:r>
            <a:endParaRPr lang="en-US" sz="1150" dirty="0"/>
          </a:p>
        </p:txBody>
      </p:sp>
      <p:sp>
        <p:nvSpPr>
          <p:cNvPr id="10" name="Shape 8"/>
          <p:cNvSpPr/>
          <p:nvPr/>
        </p:nvSpPr>
        <p:spPr>
          <a:xfrm>
            <a:off x="6309360" y="2514600"/>
            <a:ext cx="2606040" cy="1554480"/>
          </a:xfrm>
          <a:prstGeom prst="roundRect">
            <a:avLst>
              <a:gd name="adj" fmla="val 4706"/>
            </a:avLst>
          </a:prstGeom>
          <a:solidFill>
            <a:srgbClr val="F4F6FA"/>
          </a:solidFill>
          <a:ln/>
        </p:spPr>
      </p:sp>
      <p:sp>
        <p:nvSpPr>
          <p:cNvPr id="11" name="Text 9"/>
          <p:cNvSpPr/>
          <p:nvPr/>
        </p:nvSpPr>
        <p:spPr>
          <a:xfrm>
            <a:off x="644652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Decision Tree</a:t>
            </a:r>
            <a:endParaRPr lang="en-US" sz="1350" dirty="0"/>
          </a:p>
        </p:txBody>
      </p:sp>
      <p:sp>
        <p:nvSpPr>
          <p:cNvPr id="12" name="Text 10"/>
          <p:cNvSpPr/>
          <p:nvPr/>
        </p:nvSpPr>
        <p:spPr>
          <a:xfrm>
            <a:off x="644652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depth, criterion, splitter</a:t>
            </a:r>
            <a:endParaRPr lang="en-US" sz="1150" dirty="0"/>
          </a:p>
        </p:txBody>
      </p:sp>
      <p:sp>
        <p:nvSpPr>
          <p:cNvPr id="13" name="Shape 11"/>
          <p:cNvSpPr/>
          <p:nvPr/>
        </p:nvSpPr>
        <p:spPr>
          <a:xfrm>
            <a:off x="9189720" y="2514600"/>
            <a:ext cx="2606040" cy="1554480"/>
          </a:xfrm>
          <a:prstGeom prst="roundRect">
            <a:avLst>
              <a:gd name="adj" fmla="val 4706"/>
            </a:avLst>
          </a:prstGeom>
          <a:solidFill>
            <a:srgbClr val="F4F6FA"/>
          </a:solidFill>
          <a:ln/>
        </p:spPr>
      </p:sp>
      <p:sp>
        <p:nvSpPr>
          <p:cNvPr id="14" name="Text 12"/>
          <p:cNvSpPr/>
          <p:nvPr/>
        </p:nvSpPr>
        <p:spPr>
          <a:xfrm>
            <a:off x="9326880" y="2651760"/>
            <a:ext cx="2331720" cy="640080"/>
          </a:xfrm>
          <a:prstGeom prst="rect">
            <a:avLst/>
          </a:prstGeom>
          <a:noFill/>
          <a:ln/>
        </p:spPr>
        <p:txBody>
          <a:bodyPr wrap="square" rtlCol="0" anchor="ctr"/>
          <a:lstStyle/>
          <a:p>
            <a:pPr indent="0" marL="0">
              <a:lnSpc>
                <a:spcPct val="110000"/>
              </a:lnSpc>
              <a:buNone/>
            </a:pPr>
            <a:r>
              <a:rPr lang="en-US" sz="1350" b="1" dirty="0">
                <a:solidFill>
                  <a:srgbClr val="415A77"/>
                </a:solidFill>
                <a:latin typeface="Calibri" pitchFamily="34" charset="0"/>
                <a:ea typeface="Calibri" pitchFamily="34" charset="-122"/>
                <a:cs typeface="Calibri" pitchFamily="34" charset="-120"/>
              </a:rPr>
              <a:t>K-Nearest Neighbors</a:t>
            </a:r>
            <a:endParaRPr lang="en-US" sz="1350" dirty="0"/>
          </a:p>
        </p:txBody>
      </p:sp>
      <p:sp>
        <p:nvSpPr>
          <p:cNvPr id="15" name="Text 13"/>
          <p:cNvSpPr/>
          <p:nvPr/>
        </p:nvSpPr>
        <p:spPr>
          <a:xfrm>
            <a:off x="9326880" y="3291840"/>
            <a:ext cx="2331720" cy="685800"/>
          </a:xfrm>
          <a:prstGeom prst="rect">
            <a:avLst/>
          </a:prstGeom>
          <a:noFill/>
          <a:ln/>
        </p:spPr>
        <p:txBody>
          <a:bodyPr wrap="square"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Tuned over k, algorithm, distance metric</a:t>
            </a:r>
            <a:endParaRPr lang="en-US" sz="1150" dirty="0"/>
          </a:p>
        </p:txBody>
      </p:sp>
      <p:sp>
        <p:nvSpPr>
          <p:cNvPr id="16" name="Text 14"/>
          <p:cNvSpPr/>
          <p:nvPr/>
        </p:nvSpPr>
        <p:spPr>
          <a:xfrm>
            <a:off x="548640" y="4434840"/>
            <a:ext cx="11064240" cy="822960"/>
          </a:xfrm>
          <a:prstGeom prst="rect">
            <a:avLst/>
          </a:prstGeom>
          <a:noFill/>
          <a:ln/>
        </p:spPr>
        <p:txBody>
          <a:bodyPr wrap="square" rtlCol="0" anchor="ctr"/>
          <a:lstStyle/>
          <a:p>
            <a:pPr indent="0" marL="0">
              <a:lnSpc>
                <a:spcPct val="125000"/>
              </a:lnSpc>
              <a:buNone/>
            </a:pPr>
            <a:r>
              <a:rPr lang="en-US" sz="1400" i="1" dirty="0">
                <a:solidFill>
                  <a:srgbClr val="415A77"/>
                </a:solidFill>
                <a:latin typeface="Calibri" pitchFamily="34" charset="0"/>
                <a:ea typeface="Calibri" pitchFamily="34" charset="-122"/>
                <a:cs typeface="Calibri" pitchFamily="34" charset="-120"/>
              </a:rPr>
              <a:t>Evaluation used both cross-validation accuracy (more reliable given the small ~90-launch dataset) and confusion matrices on the test set to see exactly what kind of mistakes each model made.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Flight Number vs. Payload Mass</a:t>
            </a:r>
            <a:endParaRPr lang="en-US" sz="2800" dirty="0"/>
          </a:p>
        </p:txBody>
      </p:sp>
      <p:pic>
        <p:nvPicPr>
          <p:cNvPr id="3" name="Image 0" descr="/tmp/pptx_images/eda_1.png">    </p:cNvPr>
          <p:cNvPicPr>
            <a:picLocks noChangeAspect="1"/>
          </p:cNvPicPr>
          <p:nvPr/>
        </p:nvPicPr>
        <p:blipFill>
          <a:blip r:embed="rId1"/>
          <a:srcRect l="0" r="0" t="0" b="0"/>
          <a:stretch/>
        </p:blipFill>
        <p:spPr>
          <a:xfrm>
            <a:off x="822960" y="960120"/>
            <a:ext cx="6949440" cy="4169664"/>
          </a:xfrm>
          <a:prstGeom prst="rect">
            <a:avLst/>
          </a:prstGeom>
        </p:spPr>
      </p:pic>
      <p:sp>
        <p:nvSpPr>
          <p:cNvPr id="4" name="Text 1"/>
          <p:cNvSpPr/>
          <p:nvPr/>
        </p:nvSpPr>
        <p:spPr>
          <a:xfrm>
            <a:off x="8046720" y="1097280"/>
            <a:ext cx="3749040" cy="914400"/>
          </a:xfrm>
          <a:prstGeom prst="rect">
            <a:avLst/>
          </a:prstGeom>
          <a:noFill/>
          <a:ln/>
        </p:spPr>
        <p:txBody>
          <a:bodyPr wrap="square" rtlCol="0" anchor="ctr"/>
          <a:lstStyle/>
          <a:p>
            <a:pPr indent="0" marL="0">
              <a:lnSpc>
                <a:spcPct val="130000"/>
              </a:lnSpc>
              <a:buNone/>
            </a:pPr>
            <a:r>
              <a:rPr lang="en-US" sz="1300" b="1" dirty="0">
                <a:solidFill>
                  <a:srgbClr val="415A77"/>
                </a:solidFill>
                <a:latin typeface="Calibri" pitchFamily="34" charset="0"/>
                <a:ea typeface="Calibri" pitchFamily="34" charset="-122"/>
                <a:cs typeface="Calibri" pitchFamily="34" charset="-120"/>
              </a:rPr>
              <a:t>Each point is one launch, plotted by flight number and payload mass, colored by outcome (green = landed, red = did not).</a:t>
            </a:r>
            <a:endParaRPr lang="en-US" sz="1300" dirty="0"/>
          </a:p>
        </p:txBody>
      </p:sp>
      <p:sp>
        <p:nvSpPr>
          <p:cNvPr id="5" name="Text 2"/>
          <p:cNvSpPr/>
          <p:nvPr/>
        </p:nvSpPr>
        <p:spPr>
          <a:xfrm>
            <a:off x="8046720" y="2103120"/>
            <a:ext cx="3749040" cy="3291840"/>
          </a:xfrm>
          <a:prstGeom prst="rect">
            <a:avLst/>
          </a:prstGeom>
          <a:noFill/>
          <a:ln/>
        </p:spPr>
        <p:txBody>
          <a:bodyPr wrap="square" rtlCol="0" anchor="ctr"/>
          <a:lstStyle/>
          <a:p>
            <a:pPr indent="0" marL="0">
              <a:lnSpc>
                <a:spcPct val="130000"/>
              </a:lnSpc>
              <a:buNone/>
            </a:pPr>
            <a:r>
              <a:rPr lang="en-US" sz="1300" dirty="0">
                <a:solidFill>
                  <a:srgbClr val="1B1B1F"/>
                </a:solidFill>
                <a:latin typeface="Calibri" pitchFamily="34" charset="0"/>
                <a:ea typeface="Calibri" pitchFamily="34" charset="-122"/>
                <a:cs typeface="Calibri" pitchFamily="34" charset="-120"/>
              </a:rPr>
              <a:t>The pattern is clear once flight number passes roughly 20-30: red (failed) markers become rare, and by the last third of the dataset landings succeed almost regardless of how heavy the payload is. That's strong evidence SpaceX's landing process matured through iteration — each flight fed lessons back into the next one — rather than payload mass being the dominant factor in outcome.</a:t>
            </a:r>
            <a:endParaRPr lang="en-US" sz="1300" dirty="0"/>
          </a:p>
        </p:txBody>
      </p:sp>
      <p:sp>
        <p:nvSpPr>
          <p:cNvPr id="6" name="Text 3"/>
          <p:cNvSpPr/>
          <p:nvPr/>
        </p:nvSpPr>
        <p:spPr>
          <a:xfrm>
            <a:off x="822960" y="5257800"/>
            <a:ext cx="6949440"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Full notebook: SpaceX_EDA_Visualization.ipynb (see GitHub link)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Success Rate by Orbit &amp; Over Time</a:t>
            </a:r>
            <a:endParaRPr lang="en-US" sz="2800" dirty="0"/>
          </a:p>
        </p:txBody>
      </p:sp>
      <p:pic>
        <p:nvPicPr>
          <p:cNvPr id="3" name="Image 0" descr="/tmp/pptx_images/eda_4.png">    </p:cNvPr>
          <p:cNvPicPr>
            <a:picLocks noChangeAspect="1"/>
          </p:cNvPicPr>
          <p:nvPr/>
        </p:nvPicPr>
        <p:blipFill>
          <a:blip r:embed="rId1"/>
          <a:srcRect l="0" r="0" t="0" b="0"/>
          <a:stretch/>
        </p:blipFill>
        <p:spPr>
          <a:xfrm>
            <a:off x="457200" y="1005840"/>
            <a:ext cx="5486400" cy="3154680"/>
          </a:xfrm>
          <a:prstGeom prst="rect">
            <a:avLst/>
          </a:prstGeom>
        </p:spPr>
      </p:pic>
      <p:pic>
        <p:nvPicPr>
          <p:cNvPr id="4" name="Image 1" descr="/tmp/pptx_images/eda_7.png">    </p:cNvPr>
          <p:cNvPicPr>
            <a:picLocks noChangeAspect="1"/>
          </p:cNvPicPr>
          <p:nvPr/>
        </p:nvPicPr>
        <p:blipFill>
          <a:blip r:embed="rId2"/>
          <a:srcRect l="0" r="0" t="0" b="0"/>
          <a:stretch/>
        </p:blipFill>
        <p:spPr>
          <a:xfrm>
            <a:off x="6217920" y="1005840"/>
            <a:ext cx="5486400" cy="3154680"/>
          </a:xfrm>
          <a:prstGeom prst="rect">
            <a:avLst/>
          </a:prstGeom>
        </p:spPr>
      </p:pic>
      <p:sp>
        <p:nvSpPr>
          <p:cNvPr id="5" name="Text 1"/>
          <p:cNvSpPr/>
          <p:nvPr/>
        </p:nvSpPr>
        <p:spPr>
          <a:xfrm>
            <a:off x="548640" y="425196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landing success rate grouped by orbit type. Right: landing success rate averaged by year across the whole program.</a:t>
            </a:r>
            <a:endParaRPr lang="en-US" sz="1200" dirty="0"/>
          </a:p>
        </p:txBody>
      </p:sp>
      <p:sp>
        <p:nvSpPr>
          <p:cNvPr id="6" name="Text 2"/>
          <p:cNvSpPr/>
          <p:nvPr/>
        </p:nvSpPr>
        <p:spPr>
          <a:xfrm>
            <a:off x="548640" y="4663440"/>
            <a:ext cx="11064240" cy="1600200"/>
          </a:xfrm>
          <a:prstGeom prst="rect">
            <a:avLst/>
          </a:prstGeom>
          <a:noFill/>
          <a:ln/>
        </p:spPr>
        <p:txBody>
          <a:bodyPr wrap="square" rtlCol="0" anchor="ctr"/>
          <a:lstStyle/>
          <a:p>
            <a:pPr indent="0" marL="0">
              <a:lnSpc>
                <a:spcPct val="125000"/>
              </a:lnSpc>
              <a:buNone/>
            </a:pPr>
            <a:r>
              <a:rPr lang="en-US" sz="1250" dirty="0">
                <a:solidFill>
                  <a:srgbClr val="1B1B1F"/>
                </a:solidFill>
                <a:latin typeface="Calibri" pitchFamily="34" charset="0"/>
                <a:ea typeface="Calibri" pitchFamily="34" charset="-122"/>
                <a:cs typeface="Calibri" pitchFamily="34" charset="-120"/>
              </a:rPr>
              <a:t>Orbit type matters: GEO, HEO, and SSO orbits show a 100% landing success rate in this data, though it's worth noting a few of these orbit types only appear in a handful of flights, so those particular numbers should be read as directional rather than statistically solid. The yearly trend is the more robust signal here — it confirms success climbed steadily from 2013 onward, dipped briefly around 2015-2016 during SpaceX's early ocean-landing experiments, and then stabilized at a high rate in later years. Together, these two views say landing success is driven more by when and how a launch happens (experience, orbit demands) than by any single fixed property of the rocket.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EDA with SQL</a:t>
            </a:r>
            <a:endParaRPr lang="en-US" sz="2800" dirty="0"/>
          </a:p>
        </p:txBody>
      </p:sp>
      <p:sp>
        <p:nvSpPr>
          <p:cNvPr id="3" name="Text 1"/>
          <p:cNvSpPr/>
          <p:nvPr/>
        </p:nvSpPr>
        <p:spPr>
          <a:xfrm>
            <a:off x="548640" y="914400"/>
            <a:ext cx="11064240" cy="640080"/>
          </a:xfrm>
          <a:prstGeom prst="rect">
            <a:avLst/>
          </a:prstGeom>
          <a:noFill/>
          <a:ln/>
        </p:spPr>
        <p:txBody>
          <a:bodyPr wrap="square" rtlCol="0" anchor="ctr"/>
          <a:lstStyle/>
          <a:p>
            <a:pPr indent="0" marL="0">
              <a:lnSpc>
                <a:spcPct val="120000"/>
              </a:lnSpc>
              <a:buNone/>
            </a:pPr>
            <a:r>
              <a:rPr lang="en-US" sz="1250" dirty="0">
                <a:solidFill>
                  <a:srgbClr val="1B1B1F"/>
                </a:solidFill>
                <a:latin typeface="Calibri" pitchFamily="34" charset="0"/>
                <a:ea typeface="Calibri" pitchFamily="34" charset="-122"/>
                <a:cs typeface="Calibri" pitchFamily="34" charset="-120"/>
              </a:rPr>
              <a:t>Ten SQL queries were run against the launch records table (loaded into a SQLite database for this analysis) covering unique launch sites, payload totals by customer and booster version, landing outcome dates, and outcome rankings over time. The most informative results are summarized below:</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657600"/>
        </p:xfrm>
        <a:graphic>
          <a:graphicData uri="http://schemas.openxmlformats.org/drawingml/2006/table">
            <a:tbl>
              <a:tblPr/>
              <a:tblGrid>
                <a:gridCol w="6858000"/>
                <a:gridCol w="4206240"/>
              </a:tblGrid>
              <a:tr h="5943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0B1D3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solidFill>
                      <a:srgbClr val="0B1D3A"/>
                    </a:solidFill>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Total payload mass carried for NASA (CRS)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45,596 kg</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Average payload mass, Booster F9 v1.1</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2,534.7 kg</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Successful vs. failed mission outcomes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98 success / 1 in-flight failure / 1 unclear (of 101)</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Most common landing outcome, 2010-06-04 to 2017-03-20</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“No attempt”, followed by early failure attempts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r h="594360">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2015 drone-ship landing failures</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c>
                  <a:txBody>
                    <a:bodyPr/>
                    <a:lstStyle/>
                    <a:p>
                      <a:pPr indent="0" marL="0">
                        <a:buNone/>
                      </a:pPr>
                      <a:r>
                        <a:rPr lang="en-US" sz="1250" dirty="0">
                          <a:solidFill>
                            <a:srgbClr val="1B1B1F"/>
                          </a:solidFill>
                          <a:latin typeface="Calibri" pitchFamily="34" charset="0"/>
                          <a:ea typeface="Calibri" pitchFamily="34" charset="-122"/>
                          <a:cs typeface="Calibri" pitchFamily="34" charset="-120"/>
                        </a:rPr>
                        <a:t>2 records — both in the early drone-ship experimentation phase</a:t>
                      </a:r>
                      <a:endParaRPr lang="en-US" sz="1250" dirty="0">
                        <a:latin typeface="Calibri" charset="0"/>
                        <a:ea typeface="Calibri" charset="0"/>
                        <a:cs typeface="Calibri" charset="0"/>
                      </a:endParaRPr>
                    </a:p>
                  </a:txBody>
                  <a:tcPr marL="91440" marR="91440" marT="45720" marB="45720" anchor="ctr">
                    <a:lnL w="12700" cap="flat" cmpd="sng" algn="ctr">
                      <a:solidFill>
                        <a:srgbClr val="E2E5EA"/>
                      </a:solidFill>
                      <a:prstDash val="solid"/>
                      <a:round/>
                      <a:headEnd type="none" w="med" len="med"/>
                      <a:tailEnd type="none" w="med" len="med"/>
                    </a:lnL>
                    <a:lnR w="12700" cap="flat" cmpd="sng" algn="ctr">
                      <a:solidFill>
                        <a:srgbClr val="E2E5EA"/>
                      </a:solidFill>
                      <a:prstDash val="solid"/>
                      <a:round/>
                      <a:headEnd type="none" w="med" len="med"/>
                      <a:tailEnd type="none" w="med" len="med"/>
                    </a:lnR>
                    <a:lnT w="12700" cap="flat" cmpd="sng" algn="ctr">
                      <a:solidFill>
                        <a:srgbClr val="E2E5EA"/>
                      </a:solidFill>
                      <a:prstDash val="solid"/>
                      <a:round/>
                      <a:headEnd type="none" w="med" len="med"/>
                      <a:tailEnd type="none" w="med" len="med"/>
                    </a:lnT>
                    <a:lnB w="12700" cap="flat" cmpd="sng" algn="ctr">
                      <a:solidFill>
                        <a:srgbClr val="E2E5EA"/>
                      </a:solidFill>
                      <a:prstDash val="solid"/>
                      <a:round/>
                      <a:headEnd type="none" w="med" len="med"/>
                      <a:tailEnd type="none" w="med" len="med"/>
                    </a:lnB>
                  </a:tcPr>
                </a:tc>
              </a:tr>
            </a:tbl>
          </a:graphicData>
        </a:graphic>
      </p:graphicFrame>
      <p:sp>
        <p:nvSpPr>
          <p:cNvPr id="5" name="Text 2"/>
          <p:cNvSpPr/>
          <p:nvPr/>
        </p:nvSpPr>
        <p:spPr>
          <a:xfrm>
            <a:off x="548640" y="5486400"/>
            <a:ext cx="11064240" cy="914400"/>
          </a:xfrm>
          <a:prstGeom prst="rect">
            <a:avLst/>
          </a:prstGeom>
          <a:noFill/>
          <a:ln/>
        </p:spPr>
        <p:txBody>
          <a:bodyPr wrap="square" rtlCol="0" anchor="ctr"/>
          <a:lstStyle/>
          <a:p>
            <a:pPr indent="0" marL="0">
              <a:lnSpc>
                <a:spcPct val="125000"/>
              </a:lnSpc>
              <a:buNone/>
            </a:pPr>
            <a:r>
              <a:rPr lang="en-US" sz="1250" i="1" dirty="0">
                <a:solidFill>
                  <a:srgbClr val="415A77"/>
                </a:solidFill>
                <a:latin typeface="Calibri" pitchFamily="34" charset="0"/>
                <a:ea typeface="Calibri" pitchFamily="34" charset="-122"/>
                <a:cs typeface="Calibri" pitchFamily="34" charset="-120"/>
              </a:rPr>
              <a:t>Even though the booster landing success rate is 66.7%, the underlying rocket mission itself — successfully delivering the payload — succeeded in 98 of 101 recorded launches. That distinction matters: landing recovery is a genuinely harder, separate problem from mission success, and it's specifically the one this project's classification models are built to predict.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Interactive Map (Folium)</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all four Falcon 9 launch sites, plotted by latitude/longitude. Right: each site's landing success rate, calculated from every launch recorded there.</a:t>
            </a:r>
            <a:endParaRPr lang="en-US" sz="1200" dirty="0"/>
          </a:p>
        </p:txBody>
      </p:sp>
      <p:pic>
        <p:nvPicPr>
          <p:cNvPr id="4" name="Image 0" descr="/sessions/happy-dreamy-planck/mnt/outputs/static_map_preview.png">    </p:cNvPr>
          <p:cNvPicPr>
            <a:picLocks noChangeAspect="1"/>
          </p:cNvPicPr>
          <p:nvPr/>
        </p:nvPicPr>
        <p:blipFill>
          <a:blip r:embed="rId1"/>
          <a:srcRect l="0" r="0" t="0" b="0"/>
          <a:stretch/>
        </p:blipFill>
        <p:spPr>
          <a:xfrm>
            <a:off x="548640" y="1325880"/>
            <a:ext cx="11064240" cy="3703320"/>
          </a:xfrm>
          <a:prstGeom prst="rect">
            <a:avLst/>
          </a:prstGeom>
        </p:spPr>
      </p:pic>
      <p:sp>
        <p:nvSpPr>
          <p:cNvPr id="5" name="Text 2"/>
          <p:cNvSpPr/>
          <p:nvPr/>
        </p:nvSpPr>
        <p:spPr>
          <a:xfrm>
            <a:off x="548640" y="5166360"/>
            <a:ext cx="11064240" cy="1234440"/>
          </a:xfrm>
          <a:prstGeom prst="rect">
            <a:avLst/>
          </a:prstGeom>
          <a:noFill/>
          <a:ln/>
        </p:spPr>
        <p:txBody>
          <a:bodyPr wrap="square" rtlCol="0" anchor="ctr"/>
          <a:lstStyle/>
          <a:p>
            <a:pPr indent="0" marL="0">
              <a:lnSpc>
                <a:spcPct val="125000"/>
              </a:lnSpc>
              <a:buNone/>
            </a:pPr>
            <a:r>
              <a:rPr lang="en-US" sz="1200" dirty="0">
                <a:solidFill>
                  <a:srgbClr val="1B1B1F"/>
                </a:solidFill>
                <a:latin typeface="Calibri" pitchFamily="34" charset="0"/>
                <a:ea typeface="Calibri" pitchFamily="34" charset="-122"/>
                <a:cs typeface="Calibri" pitchFamily="34" charset="-120"/>
              </a:rPr>
              <a:t>All four launch sites sit right on the coast (two in Florida, one in California) so debris from a failed launch falls over open water rather than populated land — a deliberate, industry-wide siting choice, not unique to SpaceX. KSC LC-39A stands out with a 77% landing success rate, well above CCAFS SLC-40 (43%), VAFB SLC-4E (40%), and CCAFS LC-40 (27%) — largely because KSC LC-39A came into use later in the program, after SpaceX had already worked out most of its landing process. The full interactive Folium map (in the linked notebook) lets you click into each site's individual launch markers, color-coded green or red by outcome, and measure each pad's distance to the nearest coastline.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800" b="1" dirty="0">
                <a:solidFill>
                  <a:srgbClr val="0B1D3A"/>
                </a:solidFill>
                <a:latin typeface="Cambria" pitchFamily="34" charset="0"/>
                <a:ea typeface="Cambria" pitchFamily="34" charset="-122"/>
                <a:cs typeface="Cambria" pitchFamily="34" charset="-120"/>
              </a:rPr>
              <a:t>Results: Interactive Dashboard (Plotly Dash)</a:t>
            </a:r>
            <a:endParaRPr lang="en-US" sz="28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share of total successful launches contributed by each site. Right: every launch plotted by payload mass vs. outcome, colored by booster version.</a:t>
            </a:r>
            <a:endParaRPr lang="en-US" sz="1200" dirty="0"/>
          </a:p>
        </p:txBody>
      </p:sp>
      <p:pic>
        <p:nvPicPr>
          <p:cNvPr id="4" name="Image 0" descr="/sessions/happy-dreamy-planck/mnt/outputs/static_dashboard_preview.png">    </p:cNvPr>
          <p:cNvPicPr>
            <a:picLocks noChangeAspect="1"/>
          </p:cNvPicPr>
          <p:nvPr/>
        </p:nvPicPr>
        <p:blipFill>
          <a:blip r:embed="rId1"/>
          <a:srcRect l="0" r="0" t="0" b="0"/>
          <a:stretch/>
        </p:blipFill>
        <p:spPr>
          <a:xfrm>
            <a:off x="548640" y="1325880"/>
            <a:ext cx="11064240" cy="3794760"/>
          </a:xfrm>
          <a:prstGeom prst="rect">
            <a:avLst/>
          </a:prstGeom>
        </p:spPr>
      </p:pic>
      <p:sp>
        <p:nvSpPr>
          <p:cNvPr id="5" name="Text 2"/>
          <p:cNvSpPr/>
          <p:nvPr/>
        </p:nvSpPr>
        <p:spPr>
          <a:xfrm>
            <a:off x="548640" y="5257800"/>
            <a:ext cx="11064240" cy="1143000"/>
          </a:xfrm>
          <a:prstGeom prst="rect">
            <a:avLst/>
          </a:prstGeom>
          <a:noFill/>
          <a:ln/>
        </p:spPr>
        <p:txBody>
          <a:bodyPr wrap="square" rtlCol="0" anchor="ctr"/>
          <a:lstStyle/>
          <a:p>
            <a:pPr indent="0" marL="0">
              <a:lnSpc>
                <a:spcPct val="125000"/>
              </a:lnSpc>
              <a:buNone/>
            </a:pPr>
            <a:r>
              <a:rPr lang="en-US" sz="1200" dirty="0">
                <a:solidFill>
                  <a:srgbClr val="1B1B1F"/>
                </a:solidFill>
                <a:latin typeface="Calibri" pitchFamily="34" charset="0"/>
                <a:ea typeface="Calibri" pitchFamily="34" charset="-122"/>
                <a:cs typeface="Calibri" pitchFamily="34" charset="-120"/>
              </a:rPr>
              <a:t>In the live dashboard, both charts are interactive rather than fixed like this snapshot: selecting a launch site from the dropdown recalculates the pie chart down to that site's own success breakdown, and the payload-mass range slider filters the scatter plot in real time. That means a director can go from "show me KSC LC-39A specifically" to a fresh, correct answer in one click, without ever coming back to ask a data scientist for a new chart.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600" b="1" dirty="0">
                <a:solidFill>
                  <a:srgbClr val="0B1D3A"/>
                </a:solidFill>
                <a:latin typeface="Cambria" pitchFamily="34" charset="0"/>
                <a:ea typeface="Cambria" pitchFamily="34" charset="-122"/>
                <a:cs typeface="Cambria" pitchFamily="34" charset="-120"/>
              </a:rPr>
              <a:t>Results: Predictive Analysis (Classification)</a:t>
            </a:r>
            <a:endParaRPr lang="en-US" sz="2600" dirty="0"/>
          </a:p>
        </p:txBody>
      </p:sp>
      <p:sp>
        <p:nvSpPr>
          <p:cNvPr id="3" name="Text 1"/>
          <p:cNvSpPr/>
          <p:nvPr/>
        </p:nvSpPr>
        <p:spPr>
          <a:xfrm>
            <a:off x="548640" y="914400"/>
            <a:ext cx="1106424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Left: test-set accuracy for all four tuned classifiers. Right: the confusion matrix for the winning model, showing exactly which of the 18 held-out test launches it got right and wrong.</a:t>
            </a:r>
            <a:endParaRPr lang="en-US" sz="1200" dirty="0"/>
          </a:p>
        </p:txBody>
      </p:sp>
      <p:graphicFrame>
        <p:nvGraphicFramePr>
          <p:cNvPr id="4" name="Chart 0" descr=""/>
          <p:cNvGraphicFramePr/>
          <p:nvPr/>
        </p:nvGraphicFramePr>
        <p:xfrm>
          <a:off x="548640" y="1417320"/>
          <a:ext cx="5577840" cy="3931920"/>
        </p:xfrm>
        <a:graphic xmlns:a="http://schemas.openxmlformats.org/drawingml/2006/main">
          <a:graphicData uri="http://schemas.openxmlformats.org/drawingml/2006/chart">
            <c:chart xmlns:c="http://schemas.openxmlformats.org/drawingml/2006/chart" r:id="rId1"/>
          </a:graphicData>
        </a:graphic>
      </p:graphicFrame>
      <p:pic>
        <p:nvPicPr>
          <p:cNvPr id="5" name="Image 0" descr="/tmp/pptx_images/ml_3.png">    </p:cNvPr>
          <p:cNvPicPr>
            <a:picLocks noChangeAspect="1"/>
          </p:cNvPicPr>
          <p:nvPr/>
        </p:nvPicPr>
        <p:blipFill>
          <a:blip r:embed="rId2"/>
          <a:srcRect l="0" r="0" t="0" b="0"/>
          <a:stretch/>
        </p:blipFill>
        <p:spPr>
          <a:xfrm>
            <a:off x="6400800" y="1417320"/>
            <a:ext cx="5212080" cy="3931920"/>
          </a:xfrm>
          <a:prstGeom prst="rect">
            <a:avLst/>
          </a:prstGeom>
        </p:spPr>
      </p:pic>
      <p:sp>
        <p:nvSpPr>
          <p:cNvPr id="6" name="Text 2"/>
          <p:cNvSpPr/>
          <p:nvPr/>
        </p:nvSpPr>
        <p:spPr>
          <a:xfrm>
            <a:off x="6400800" y="5394960"/>
            <a:ext cx="5212080" cy="320040"/>
          </a:xfrm>
          <a:prstGeom prst="rect">
            <a:avLst/>
          </a:prstGeom>
          <a:noFill/>
          <a:ln/>
        </p:spPr>
        <p:txBody>
          <a:bodyPr wrap="square"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Best model: Decision Tree — confusion matrix (test set)</a:t>
            </a:r>
            <a:endParaRPr lang="en-US" sz="1150" dirty="0"/>
          </a:p>
        </p:txBody>
      </p:sp>
      <p:sp>
        <p:nvSpPr>
          <p:cNvPr id="7" name="Text 3"/>
          <p:cNvSpPr/>
          <p:nvPr/>
        </p:nvSpPr>
        <p:spPr>
          <a:xfrm>
            <a:off x="548640" y="5806440"/>
            <a:ext cx="11064240" cy="868680"/>
          </a:xfrm>
          <a:prstGeom prst="rect">
            <a:avLst/>
          </a:prstGeom>
          <a:noFill/>
          <a:ln/>
        </p:spPr>
        <p:txBody>
          <a:bodyPr wrap="square" rtlCol="0" anchor="ctr"/>
          <a:lstStyle/>
          <a:p>
            <a:pPr indent="0" marL="0">
              <a:lnSpc>
                <a:spcPct val="120000"/>
              </a:lnSpc>
              <a:buNone/>
            </a:pPr>
            <a:r>
              <a:rPr lang="en-US" sz="1150" dirty="0">
                <a:solidFill>
                  <a:srgbClr val="1B1B1F"/>
                </a:solidFill>
                <a:latin typeface="Calibri" pitchFamily="34" charset="0"/>
                <a:ea typeface="Calibri" pitchFamily="34" charset="-122"/>
                <a:cs typeface="Calibri" pitchFamily="34" charset="-120"/>
              </a:rPr>
              <a:t>Decision Tree came out on top with 94.4% test accuracy (82.0% cross-validation accuracy), correctly classifying 17 of 18 held-out launches — it made one false positive (predicted a landing that didn't happen) and zero false negatives, meaning it never missed an actual successful landing. Logistic Regression, SVM, and KNN all tied at 83.3% test accuracy. All four land in a broadly similar range on this fairly small dataset (18 test launches); with more historical data, the gap between models would likely sharpen, and Decision Tree's edge here should be treated as promising rather than conclusive.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A"/>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371600"/>
            <a:ext cx="457200" cy="457200"/>
          </a:xfrm>
          <a:prstGeom prst="roundRect">
            <a:avLst>
              <a:gd name="adj" fmla="val 16000"/>
            </a:avLst>
          </a:prstGeom>
          <a:solidFill>
            <a:srgbClr val="FF6B35"/>
          </a:solidFill>
          <a:ln/>
        </p:spPr>
      </p:sp>
      <p:sp>
        <p:nvSpPr>
          <p:cNvPr id="4" name="Text 2"/>
          <p:cNvSpPr/>
          <p:nvPr/>
        </p:nvSpPr>
        <p:spPr>
          <a:xfrm>
            <a:off x="548640" y="1371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188720" y="1325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Landing success is strongly tied to experience: later flights (higher flight numbers) land far more reliably, and the yearly trend confirms consistent improvement since 2013.</a:t>
            </a:r>
            <a:endParaRPr lang="en-US" sz="1450" dirty="0"/>
          </a:p>
        </p:txBody>
      </p:sp>
      <p:sp>
        <p:nvSpPr>
          <p:cNvPr id="6" name="Shape 4"/>
          <p:cNvSpPr/>
          <p:nvPr/>
        </p:nvSpPr>
        <p:spPr>
          <a:xfrm>
            <a:off x="548640" y="2514600"/>
            <a:ext cx="457200" cy="457200"/>
          </a:xfrm>
          <a:prstGeom prst="roundRect">
            <a:avLst>
              <a:gd name="adj" fmla="val 16000"/>
            </a:avLst>
          </a:prstGeom>
          <a:solidFill>
            <a:srgbClr val="FF6B35"/>
          </a:solidFill>
          <a:ln/>
        </p:spPr>
      </p:sp>
      <p:sp>
        <p:nvSpPr>
          <p:cNvPr id="7" name="Text 5"/>
          <p:cNvSpPr/>
          <p:nvPr/>
        </p:nvSpPr>
        <p:spPr>
          <a:xfrm>
            <a:off x="548640" y="2514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p:nvPr/>
        </p:nvSpPr>
        <p:spPr>
          <a:xfrm>
            <a:off x="1188720" y="2468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Orbit type, launch site, and payload mass all interact with outcome in ways a single variable can't explain alone — which is exactly why a multi-feature classifier outperforms simple rules of thumb.</a:t>
            </a:r>
            <a:endParaRPr lang="en-US" sz="1450" dirty="0"/>
          </a:p>
        </p:txBody>
      </p:sp>
      <p:sp>
        <p:nvSpPr>
          <p:cNvPr id="9" name="Shape 7"/>
          <p:cNvSpPr/>
          <p:nvPr/>
        </p:nvSpPr>
        <p:spPr>
          <a:xfrm>
            <a:off x="548640" y="3657600"/>
            <a:ext cx="457200" cy="457200"/>
          </a:xfrm>
          <a:prstGeom prst="roundRect">
            <a:avLst>
              <a:gd name="adj" fmla="val 16000"/>
            </a:avLst>
          </a:prstGeom>
          <a:solidFill>
            <a:srgbClr val="FF6B35"/>
          </a:solidFill>
          <a:ln/>
        </p:spPr>
      </p:sp>
      <p:sp>
        <p:nvSpPr>
          <p:cNvPr id="10" name="Text 8"/>
          <p:cNvSpPr/>
          <p:nvPr/>
        </p:nvSpPr>
        <p:spPr>
          <a:xfrm>
            <a:off x="548640" y="3657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p:nvPr/>
        </p:nvSpPr>
        <p:spPr>
          <a:xfrm>
            <a:off x="1188720" y="3611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A Decision Tree classifier predicted landing outcome with 94.4% test accuracy, giving a competing launch provider a genuinely usable tool for estimating a rival bid's real cost basis.</a:t>
            </a:r>
            <a:endParaRPr lang="en-US" sz="1450" dirty="0"/>
          </a:p>
        </p:txBody>
      </p:sp>
      <p:sp>
        <p:nvSpPr>
          <p:cNvPr id="12" name="Shape 10"/>
          <p:cNvSpPr/>
          <p:nvPr/>
        </p:nvSpPr>
        <p:spPr>
          <a:xfrm>
            <a:off x="548640" y="4800600"/>
            <a:ext cx="457200" cy="457200"/>
          </a:xfrm>
          <a:prstGeom prst="roundRect">
            <a:avLst>
              <a:gd name="adj" fmla="val 16000"/>
            </a:avLst>
          </a:prstGeom>
          <a:solidFill>
            <a:srgbClr val="FF6B35"/>
          </a:solidFill>
          <a:ln/>
        </p:spPr>
      </p:sp>
      <p:sp>
        <p:nvSpPr>
          <p:cNvPr id="13" name="Text 11"/>
          <p:cNvSpPr/>
          <p:nvPr/>
        </p:nvSpPr>
        <p:spPr>
          <a:xfrm>
            <a:off x="548640" y="48006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p:nvPr/>
        </p:nvSpPr>
        <p:spPr>
          <a:xfrm>
            <a:off x="1188720" y="4754880"/>
            <a:ext cx="10424160" cy="914400"/>
          </a:xfrm>
          <a:prstGeom prst="rect">
            <a:avLst/>
          </a:prstGeom>
          <a:noFill/>
          <a:ln/>
        </p:spPr>
        <p:txBody>
          <a:bodyPr wrap="square" rtlCol="0" anchor="ctr"/>
          <a:lstStyle/>
          <a:p>
            <a:pPr indent="0" marL="0">
              <a:lnSpc>
                <a:spcPct val="125000"/>
              </a:lnSpc>
              <a:buNone/>
            </a:pPr>
            <a:r>
              <a:rPr lang="en-US" sz="1450" dirty="0">
                <a:solidFill>
                  <a:srgbClr val="FFFFFF"/>
                </a:solidFill>
                <a:latin typeface="Calibri" pitchFamily="34" charset="0"/>
                <a:ea typeface="Calibri" pitchFamily="34" charset="-122"/>
                <a:cs typeface="Calibri" pitchFamily="34" charset="-120"/>
              </a:rPr>
              <a:t>The interactive Folium map and Dash dashboard turn this analysis into something non-technical stakeholders can explore themselves, not just a static report.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indent="0" marL="0">
              <a:buNone/>
            </a:pPr>
            <a:r>
              <a:rPr lang="en-US" sz="3000" b="1" dirty="0">
                <a:solidFill>
                  <a:srgbClr val="0B1D3A"/>
                </a:solidFill>
                <a:latin typeface="Cambria" pitchFamily="34" charset="0"/>
                <a:ea typeface="Cambria" pitchFamily="34" charset="-122"/>
                <a:cs typeface="Cambria" pitchFamily="34" charset="-120"/>
              </a:rPr>
              <a:t>Project Resources</a:t>
            </a:r>
            <a:endParaRPr lang="en-US" sz="3000" dirty="0"/>
          </a:p>
        </p:txBody>
      </p:sp>
      <p:sp>
        <p:nvSpPr>
          <p:cNvPr id="3" name="Shape 1"/>
          <p:cNvSpPr/>
          <p:nvPr/>
        </p:nvSpPr>
        <p:spPr>
          <a:xfrm>
            <a:off x="548640" y="1371600"/>
            <a:ext cx="11064240" cy="1234440"/>
          </a:xfrm>
          <a:prstGeom prst="roundRect">
            <a:avLst>
              <a:gd name="adj" fmla="val 5926"/>
            </a:avLst>
          </a:prstGeom>
          <a:solidFill>
            <a:srgbClr val="0B1D3A"/>
          </a:solidFill>
          <a:ln/>
        </p:spPr>
      </p:sp>
      <p:sp>
        <p:nvSpPr>
          <p:cNvPr id="4" name="Text 2"/>
          <p:cNvSpPr/>
          <p:nvPr/>
        </p:nvSpPr>
        <p:spPr>
          <a:xfrm>
            <a:off x="822960" y="1508760"/>
            <a:ext cx="5486400" cy="365760"/>
          </a:xfrm>
          <a:prstGeom prst="rect">
            <a:avLst/>
          </a:prstGeom>
          <a:noFill/>
          <a:ln/>
        </p:spPr>
        <p:txBody>
          <a:bodyPr wrap="square" rtlCol="0" anchor="ctr"/>
          <a:lstStyle/>
          <a:p>
            <a:pPr indent="0" marL="0">
              <a:buNone/>
            </a:pPr>
            <a:r>
              <a:rPr lang="en-US" sz="1400" b="1" dirty="0">
                <a:solidFill>
                  <a:srgbClr val="FF6B35"/>
                </a:solidFill>
                <a:latin typeface="Calibri" pitchFamily="34" charset="0"/>
                <a:ea typeface="Calibri" pitchFamily="34" charset="-122"/>
                <a:cs typeface="Calibri" pitchFamily="34" charset="-120"/>
              </a:rPr>
              <a:t>GitHub Repository</a:t>
            </a:r>
            <a:endParaRPr lang="en-US" sz="1400" dirty="0"/>
          </a:p>
        </p:txBody>
      </p:sp>
      <p:sp>
        <p:nvSpPr>
          <p:cNvPr id="5" name="Text 3"/>
          <p:cNvSpPr/>
          <p:nvPr/>
        </p:nvSpPr>
        <p:spPr>
          <a:xfrm>
            <a:off x="822960" y="1874520"/>
            <a:ext cx="10515600" cy="36576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github.com/[your-username]/spacex-falcon9-landing-prediction</a:t>
            </a:r>
            <a:endParaRPr lang="en-US" sz="1500" dirty="0"/>
          </a:p>
        </p:txBody>
      </p:sp>
      <p:sp>
        <p:nvSpPr>
          <p:cNvPr id="6" name="Text 4"/>
          <p:cNvSpPr/>
          <p:nvPr/>
        </p:nvSpPr>
        <p:spPr>
          <a:xfrm>
            <a:off x="822960" y="2240280"/>
            <a:ext cx="10515600" cy="274320"/>
          </a:xfrm>
          <a:prstGeom prst="rect">
            <a:avLst/>
          </a:prstGeom>
          <a:noFill/>
          <a:ln/>
        </p:spPr>
        <p:txBody>
          <a:bodyPr wrap="square"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(Insert your actual repository URL here before submitting)</a:t>
            </a:r>
            <a:endParaRPr lang="en-US" sz="1050" dirty="0"/>
          </a:p>
        </p:txBody>
      </p:sp>
      <p:sp>
        <p:nvSpPr>
          <p:cNvPr id="7" name="Text 5"/>
          <p:cNvSpPr/>
          <p:nvPr/>
        </p:nvSpPr>
        <p:spPr>
          <a:xfrm>
            <a:off x="548640" y="2880360"/>
            <a:ext cx="11064240" cy="457200"/>
          </a:xfrm>
          <a:prstGeom prst="rect">
            <a:avLst/>
          </a:prstGeom>
          <a:noFill/>
          <a:ln/>
        </p:spPr>
        <p:txBody>
          <a:bodyPr wrap="square" rtlCol="0" anchor="ctr"/>
          <a:lstStyle/>
          <a:p>
            <a:pPr indent="0" marL="0">
              <a:lnSpc>
                <a:spcPct val="120000"/>
              </a:lnSpc>
              <a:buNone/>
            </a:pPr>
            <a:r>
              <a:rPr lang="en-US" sz="1300" dirty="0">
                <a:solidFill>
                  <a:srgbClr val="1B1B1F"/>
                </a:solidFill>
                <a:latin typeface="Calibri" pitchFamily="34" charset="0"/>
                <a:ea typeface="Calibri" pitchFamily="34" charset="-122"/>
                <a:cs typeface="Calibri" pitchFamily="34" charset="-120"/>
              </a:rPr>
              <a:t>Every stage of this project is documented as a separate, runnable notebook (or app, for the dashboard) in the repository above, so the full analysis can be reproduced end to end:</a:t>
            </a:r>
            <a:endParaRPr lang="en-US" sz="1300" dirty="0"/>
          </a:p>
        </p:txBody>
      </p:sp>
      <p:sp>
        <p:nvSpPr>
          <p:cNvPr id="8" name="Text 6"/>
          <p:cNvSpPr/>
          <p:nvPr/>
        </p:nvSpPr>
        <p:spPr>
          <a:xfrm>
            <a:off x="822960" y="3429000"/>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SpaceX_Data_Collection_API.ipynb</a:t>
            </a:r>
            <a:endParaRPr lang="en-US" sz="1200" dirty="0"/>
          </a:p>
        </p:txBody>
      </p:sp>
      <p:sp>
        <p:nvSpPr>
          <p:cNvPr id="9" name="Text 7"/>
          <p:cNvSpPr/>
          <p:nvPr/>
        </p:nvSpPr>
        <p:spPr>
          <a:xfrm>
            <a:off x="4846320" y="3429000"/>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Pulls raw launch records from the SpaceX REST API</a:t>
            </a:r>
            <a:endParaRPr lang="en-US" sz="1200" dirty="0"/>
          </a:p>
        </p:txBody>
      </p:sp>
      <p:sp>
        <p:nvSpPr>
          <p:cNvPr id="10" name="Text 8"/>
          <p:cNvSpPr/>
          <p:nvPr/>
        </p:nvSpPr>
        <p:spPr>
          <a:xfrm>
            <a:off x="822960" y="3822192"/>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SpaceX_Data_Collection_Webscraping.ipynb</a:t>
            </a:r>
            <a:endParaRPr lang="en-US" sz="1200" dirty="0"/>
          </a:p>
        </p:txBody>
      </p:sp>
      <p:sp>
        <p:nvSpPr>
          <p:cNvPr id="11" name="Text 9"/>
          <p:cNvSpPr/>
          <p:nvPr/>
        </p:nvSpPr>
        <p:spPr>
          <a:xfrm>
            <a:off x="4846320" y="3822192"/>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Scrapes the Wikipedia Falcon 9 launch list to fill in gaps</a:t>
            </a:r>
            <a:endParaRPr lang="en-US" sz="1200" dirty="0"/>
          </a:p>
        </p:txBody>
      </p:sp>
      <p:sp>
        <p:nvSpPr>
          <p:cNvPr id="12" name="Text 10"/>
          <p:cNvSpPr/>
          <p:nvPr/>
        </p:nvSpPr>
        <p:spPr>
          <a:xfrm>
            <a:off x="822960" y="4215384"/>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SpaceX_Data_Wrangling.ipynb</a:t>
            </a:r>
            <a:endParaRPr lang="en-US" sz="1200" dirty="0"/>
          </a:p>
        </p:txBody>
      </p:sp>
      <p:sp>
        <p:nvSpPr>
          <p:cNvPr id="13" name="Text 11"/>
          <p:cNvSpPr/>
          <p:nvPr/>
        </p:nvSpPr>
        <p:spPr>
          <a:xfrm>
            <a:off x="4846320" y="4215384"/>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Cleans the data and builds the landing-success (Class) label</a:t>
            </a:r>
            <a:endParaRPr lang="en-US" sz="1200" dirty="0"/>
          </a:p>
        </p:txBody>
      </p:sp>
      <p:sp>
        <p:nvSpPr>
          <p:cNvPr id="14" name="Text 12"/>
          <p:cNvSpPr/>
          <p:nvPr/>
        </p:nvSpPr>
        <p:spPr>
          <a:xfrm>
            <a:off x="822960" y="4608576"/>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SpaceX_EDA_Visualization.ipynb</a:t>
            </a:r>
            <a:endParaRPr lang="en-US" sz="1200" dirty="0"/>
          </a:p>
        </p:txBody>
      </p:sp>
      <p:sp>
        <p:nvSpPr>
          <p:cNvPr id="15" name="Text 13"/>
          <p:cNvSpPr/>
          <p:nvPr/>
        </p:nvSpPr>
        <p:spPr>
          <a:xfrm>
            <a:off x="4846320" y="4608576"/>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Matplotlib/Seaborn exploratory analysis</a:t>
            </a:r>
            <a:endParaRPr lang="en-US" sz="1200" dirty="0"/>
          </a:p>
        </p:txBody>
      </p:sp>
      <p:sp>
        <p:nvSpPr>
          <p:cNvPr id="16" name="Text 14"/>
          <p:cNvSpPr/>
          <p:nvPr/>
        </p:nvSpPr>
        <p:spPr>
          <a:xfrm>
            <a:off x="822960" y="5001768"/>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SpaceX_EDA_SQL.ipynb</a:t>
            </a:r>
            <a:endParaRPr lang="en-US" sz="1200" dirty="0"/>
          </a:p>
        </p:txBody>
      </p:sp>
      <p:sp>
        <p:nvSpPr>
          <p:cNvPr id="17" name="Text 15"/>
          <p:cNvSpPr/>
          <p:nvPr/>
        </p:nvSpPr>
        <p:spPr>
          <a:xfrm>
            <a:off x="4846320" y="5001768"/>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SQL queries against the launch records table</a:t>
            </a:r>
            <a:endParaRPr lang="en-US" sz="1200" dirty="0"/>
          </a:p>
        </p:txBody>
      </p:sp>
      <p:sp>
        <p:nvSpPr>
          <p:cNvPr id="18" name="Text 16"/>
          <p:cNvSpPr/>
          <p:nvPr/>
        </p:nvSpPr>
        <p:spPr>
          <a:xfrm>
            <a:off x="822960" y="5394960"/>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SpaceX_Folium_Map.ipynb</a:t>
            </a:r>
            <a:endParaRPr lang="en-US" sz="1200" dirty="0"/>
          </a:p>
        </p:txBody>
      </p:sp>
      <p:sp>
        <p:nvSpPr>
          <p:cNvPr id="19" name="Text 17"/>
          <p:cNvSpPr/>
          <p:nvPr/>
        </p:nvSpPr>
        <p:spPr>
          <a:xfrm>
            <a:off x="4846320" y="5394960"/>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Interactive map of launch sites and outcomes</a:t>
            </a:r>
            <a:endParaRPr lang="en-US" sz="1200" dirty="0"/>
          </a:p>
        </p:txBody>
      </p:sp>
      <p:sp>
        <p:nvSpPr>
          <p:cNvPr id="20" name="Text 18"/>
          <p:cNvSpPr/>
          <p:nvPr/>
        </p:nvSpPr>
        <p:spPr>
          <a:xfrm>
            <a:off x="822960" y="5788152"/>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SpaceX_Dash_Dashboard.py</a:t>
            </a:r>
            <a:endParaRPr lang="en-US" sz="1200" dirty="0"/>
          </a:p>
        </p:txBody>
      </p:sp>
      <p:sp>
        <p:nvSpPr>
          <p:cNvPr id="21" name="Text 19"/>
          <p:cNvSpPr/>
          <p:nvPr/>
        </p:nvSpPr>
        <p:spPr>
          <a:xfrm>
            <a:off x="4846320" y="5788152"/>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Live Plotly Dash dashboard app</a:t>
            </a:r>
            <a:endParaRPr lang="en-US" sz="1200" dirty="0"/>
          </a:p>
        </p:txBody>
      </p:sp>
      <p:sp>
        <p:nvSpPr>
          <p:cNvPr id="22" name="Text 20"/>
          <p:cNvSpPr/>
          <p:nvPr/>
        </p:nvSpPr>
        <p:spPr>
          <a:xfrm>
            <a:off x="822960" y="6181344"/>
            <a:ext cx="3931920" cy="365760"/>
          </a:xfrm>
          <a:prstGeom prst="rect">
            <a:avLst/>
          </a:prstGeom>
          <a:noFill/>
          <a:ln/>
        </p:spPr>
        <p:txBody>
          <a:bodyPr wrap="square" rtlCol="0" anchor="ctr"/>
          <a:lstStyle/>
          <a:p>
            <a:pPr indent="0" marL="0">
              <a:buNone/>
            </a:pPr>
            <a:r>
              <a:rPr lang="en-US" sz="1200" b="1" dirty="0">
                <a:solidFill>
                  <a:srgbClr val="415A77"/>
                </a:solidFill>
                <a:latin typeface="Courier New" pitchFamily="34" charset="0"/>
                <a:ea typeface="Courier New" pitchFamily="34" charset="-122"/>
                <a:cs typeface="Courier New" pitchFamily="34" charset="-120"/>
              </a:rPr>
              <a:t>SpaceX_ML_Classification.ipynb</a:t>
            </a:r>
            <a:endParaRPr lang="en-US" sz="1200" dirty="0"/>
          </a:p>
        </p:txBody>
      </p:sp>
      <p:sp>
        <p:nvSpPr>
          <p:cNvPr id="23" name="Text 21"/>
          <p:cNvSpPr/>
          <p:nvPr/>
        </p:nvSpPr>
        <p:spPr>
          <a:xfrm>
            <a:off x="4846320" y="6181344"/>
            <a:ext cx="6492240" cy="365760"/>
          </a:xfrm>
          <a:prstGeom prst="rect">
            <a:avLst/>
          </a:prstGeom>
          <a:noFill/>
          <a:ln/>
        </p:spPr>
        <p:txBody>
          <a:bodyPr wrap="square" rtlCol="0" anchor="ctr"/>
          <a:lstStyle/>
          <a:p>
            <a:pPr indent="0" marL="0">
              <a:buNone/>
            </a:pPr>
            <a:r>
              <a:rPr lang="en-US" sz="1200" dirty="0">
                <a:solidFill>
                  <a:srgbClr val="1B1B1F"/>
                </a:solidFill>
                <a:latin typeface="Calibri" pitchFamily="34" charset="0"/>
                <a:ea typeface="Calibri" pitchFamily="34" charset="-122"/>
                <a:cs typeface="Calibri" pitchFamily="34" charset="-120"/>
              </a:rPr>
              <a:t>Model training, tuning, and comparison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Winning the Space Race with Data Science</dc:title>
  <dc:subject>PptxGenJS Presentation</dc:subject>
  <dc:creator>Yash</dc:creator>
  <cp:lastModifiedBy>Yash</cp:lastModifiedBy>
  <cp:revision>1</cp:revision>
  <dcterms:created xsi:type="dcterms:W3CDTF">2026-07-22T23:29:40Z</dcterms:created>
  <dcterms:modified xsi:type="dcterms:W3CDTF">2026-07-22T23:29:40Z</dcterms:modified>
</cp:coreProperties>
</file>